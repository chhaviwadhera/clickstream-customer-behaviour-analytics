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8288000" cy="10287000"/>
  <p:notesSz cx="6858000" cy="9144000"/>
  <p:embeddedFontLst>
    <p:embeddedFont>
      <p:font typeface="Berkshire Swash" panose="020B0604020202020204" charset="0"/>
      <p:regular r:id="rId28"/>
    </p:embeddedFont>
    <p:embeddedFont>
      <p:font typeface="Canva Sans" panose="020B0604020202020204" charset="0"/>
      <p:regular r:id="rId29"/>
    </p:embeddedFont>
    <p:embeddedFont>
      <p:font typeface="Canva Sans Bold" panose="020B0604020202020204" charset="0"/>
      <p:regular r:id="rId30"/>
    </p:embeddedFont>
    <p:embeddedFont>
      <p:font typeface="Chewy" panose="020B0604020202020204" charset="0"/>
      <p:regular r:id="rId31"/>
    </p:embeddedFont>
    <p:embeddedFont>
      <p:font typeface="Coming Soon" panose="020B0604020202020204" charset="0"/>
      <p:regular r:id="rId32"/>
    </p:embeddedFont>
    <p:embeddedFont>
      <p:font typeface="Kollektif" panose="020B0604020202020204" charset="0"/>
      <p:regular r:id="rId33"/>
    </p:embeddedFont>
    <p:embeddedFont>
      <p:font typeface="League Spartan" panose="020B0604020202020204" charset="0"/>
      <p:regular r:id="rId34"/>
    </p:embeddedFont>
    <p:embeddedFont>
      <p:font typeface="Lovelo" panose="020B0604020202020204" charset="0"/>
      <p:regular r:id="rId35"/>
    </p:embeddedFont>
    <p:embeddedFont>
      <p:font typeface="Montserrat Classic" panose="020B0604020202020204" charset="0"/>
      <p:regular r:id="rId36"/>
    </p:embeddedFont>
    <p:embeddedFont>
      <p:font typeface="Montserrat Classic Bold" panose="020B0604020202020204" charset="0"/>
      <p:regular r:id="rId37"/>
    </p:embeddedFont>
    <p:embeddedFont>
      <p:font typeface="Quicksand" panose="020B0604020202020204" charset="0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9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sv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svg"/><Relationship Id="rId4" Type="http://schemas.openxmlformats.org/officeDocument/2006/relationships/image" Target="../media/image32.png"/><Relationship Id="rId9" Type="http://schemas.openxmlformats.org/officeDocument/2006/relationships/image" Target="../media/image37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4" Type="http://schemas.openxmlformats.org/officeDocument/2006/relationships/image" Target="../media/image40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svg"/><Relationship Id="rId4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8.svg"/><Relationship Id="rId4" Type="http://schemas.openxmlformats.org/officeDocument/2006/relationships/image" Target="../media/image4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2.svg"/><Relationship Id="rId4" Type="http://schemas.openxmlformats.org/officeDocument/2006/relationships/image" Target="../media/image5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.svg"/><Relationship Id="rId7" Type="http://schemas.openxmlformats.org/officeDocument/2006/relationships/image" Target="../media/image58.sv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11" Type="http://schemas.openxmlformats.org/officeDocument/2006/relationships/image" Target="../media/image62.svg"/><Relationship Id="rId5" Type="http://schemas.openxmlformats.org/officeDocument/2006/relationships/image" Target="../media/image56.svg"/><Relationship Id="rId10" Type="http://schemas.openxmlformats.org/officeDocument/2006/relationships/image" Target="../media/image61.png"/><Relationship Id="rId4" Type="http://schemas.openxmlformats.org/officeDocument/2006/relationships/image" Target="../media/image55.png"/><Relationship Id="rId9" Type="http://schemas.openxmlformats.org/officeDocument/2006/relationships/image" Target="../media/image60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74.svg"/><Relationship Id="rId3" Type="http://schemas.openxmlformats.org/officeDocument/2006/relationships/image" Target="../media/image64.svg"/><Relationship Id="rId7" Type="http://schemas.openxmlformats.org/officeDocument/2006/relationships/image" Target="../media/image68.svg"/><Relationship Id="rId12" Type="http://schemas.openxmlformats.org/officeDocument/2006/relationships/image" Target="../media/image73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11" Type="http://schemas.openxmlformats.org/officeDocument/2006/relationships/image" Target="../media/image72.svg"/><Relationship Id="rId5" Type="http://schemas.openxmlformats.org/officeDocument/2006/relationships/image" Target="../media/image66.svg"/><Relationship Id="rId10" Type="http://schemas.openxmlformats.org/officeDocument/2006/relationships/image" Target="../media/image71.png"/><Relationship Id="rId4" Type="http://schemas.openxmlformats.org/officeDocument/2006/relationships/image" Target="../media/image65.png"/><Relationship Id="rId9" Type="http://schemas.openxmlformats.org/officeDocument/2006/relationships/image" Target="../media/image70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sv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7" Type="http://schemas.openxmlformats.org/officeDocument/2006/relationships/image" Target="../media/image80.sv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png"/><Relationship Id="rId5" Type="http://schemas.openxmlformats.org/officeDocument/2006/relationships/image" Target="../media/image78.svg"/><Relationship Id="rId4" Type="http://schemas.openxmlformats.org/officeDocument/2006/relationships/image" Target="../media/image7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7" Type="http://schemas.openxmlformats.org/officeDocument/2006/relationships/image" Target="../media/image80.sv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png"/><Relationship Id="rId5" Type="http://schemas.openxmlformats.org/officeDocument/2006/relationships/image" Target="../media/image78.svg"/><Relationship Id="rId4" Type="http://schemas.openxmlformats.org/officeDocument/2006/relationships/image" Target="../media/image7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t="7786" b="7786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2737050" y="2632607"/>
            <a:ext cx="12813899" cy="6185662"/>
            <a:chOff x="0" y="0"/>
            <a:chExt cx="17085199" cy="8247549"/>
          </a:xfrm>
        </p:grpSpPr>
        <p:sp>
          <p:nvSpPr>
            <p:cNvPr id="4" name="TextBox 4"/>
            <p:cNvSpPr txBox="1"/>
            <p:nvPr/>
          </p:nvSpPr>
          <p:spPr>
            <a:xfrm>
              <a:off x="0" y="219075"/>
              <a:ext cx="17085199" cy="6283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000"/>
                </a:lnSpc>
              </a:pPr>
              <a:r>
                <a:rPr lang="en-US" sz="12000">
                  <a:solidFill>
                    <a:srgbClr val="F4EAD2"/>
                  </a:solidFill>
                  <a:latin typeface="Montserrat Classic Bold"/>
                </a:rPr>
                <a:t>EXPLORING CLICKSTREAM DATA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961738" y="6860074"/>
              <a:ext cx="9161722" cy="1387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 spc="89">
                  <a:solidFill>
                    <a:srgbClr val="F4EAD2"/>
                  </a:solidFill>
                  <a:latin typeface="Montserrat Classic Italics"/>
                </a:rPr>
                <a:t>A guide through useful business insights for an e-commerce firm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t="21875" b="21875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1530884" y="-1205074"/>
            <a:ext cx="15599768" cy="12840274"/>
          </a:xfrm>
          <a:custGeom>
            <a:avLst/>
            <a:gdLst/>
            <a:ahLst/>
            <a:cxnLst/>
            <a:rect l="l" t="t" r="r" b="b"/>
            <a:pathLst>
              <a:path w="15599768" h="12840274">
                <a:moveTo>
                  <a:pt x="0" y="0"/>
                </a:moveTo>
                <a:lnTo>
                  <a:pt x="15599768" y="0"/>
                </a:lnTo>
                <a:lnTo>
                  <a:pt x="15599768" y="12840274"/>
                </a:lnTo>
                <a:lnTo>
                  <a:pt x="0" y="128402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056" r="-79221" b="-53625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545827" y="7763433"/>
            <a:ext cx="1584825" cy="2013057"/>
          </a:xfrm>
          <a:custGeom>
            <a:avLst/>
            <a:gdLst/>
            <a:ahLst/>
            <a:cxnLst/>
            <a:rect l="l" t="t" r="r" b="b"/>
            <a:pathLst>
              <a:path w="1584825" h="2013057">
                <a:moveTo>
                  <a:pt x="0" y="0"/>
                </a:moveTo>
                <a:lnTo>
                  <a:pt x="1584825" y="0"/>
                </a:lnTo>
                <a:lnTo>
                  <a:pt x="1584825" y="2013057"/>
                </a:lnTo>
                <a:lnTo>
                  <a:pt x="0" y="20130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04877" y="567594"/>
            <a:ext cx="2180910" cy="2770209"/>
          </a:xfrm>
          <a:custGeom>
            <a:avLst/>
            <a:gdLst/>
            <a:ahLst/>
            <a:cxnLst/>
            <a:rect l="l" t="t" r="r" b="b"/>
            <a:pathLst>
              <a:path w="2180910" h="2770209">
                <a:moveTo>
                  <a:pt x="0" y="0"/>
                </a:moveTo>
                <a:lnTo>
                  <a:pt x="2180910" y="0"/>
                </a:lnTo>
                <a:lnTo>
                  <a:pt x="2180910" y="2770209"/>
                </a:lnTo>
                <a:lnTo>
                  <a:pt x="0" y="27702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111611" y="602298"/>
            <a:ext cx="13434216" cy="909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40"/>
              </a:lnSpc>
            </a:pPr>
            <a:r>
              <a:rPr lang="en-US" sz="6400">
                <a:solidFill>
                  <a:srgbClr val="222222"/>
                </a:solidFill>
                <a:latin typeface="Montserrat Classic Bold"/>
              </a:rPr>
              <a:t>Presentation Plan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30884" y="2421920"/>
            <a:ext cx="15226232" cy="7354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22679" lvl="1" indent="-561340" algn="ctr">
              <a:lnSpc>
                <a:spcPts val="7279"/>
              </a:lnSpc>
              <a:buFont typeface="Arial"/>
              <a:buChar char="•"/>
            </a:pPr>
            <a:r>
              <a:rPr lang="en-US" sz="5199">
                <a:solidFill>
                  <a:srgbClr val="222222"/>
                </a:solidFill>
                <a:latin typeface="Canva Sans Bold"/>
              </a:rPr>
              <a:t>Business Significance</a:t>
            </a:r>
          </a:p>
          <a:p>
            <a:pPr marL="1122679" lvl="1" indent="-561340" algn="ctr">
              <a:lnSpc>
                <a:spcPts val="7279"/>
              </a:lnSpc>
              <a:buFont typeface="Arial"/>
              <a:buChar char="•"/>
            </a:pPr>
            <a:r>
              <a:rPr lang="en-US" sz="5199">
                <a:solidFill>
                  <a:srgbClr val="222222"/>
                </a:solidFill>
                <a:latin typeface="Canva Sans Bold"/>
              </a:rPr>
              <a:t>Problem Scenario</a:t>
            </a:r>
          </a:p>
          <a:p>
            <a:pPr marL="1122679" lvl="1" indent="-561340" algn="ctr">
              <a:lnSpc>
                <a:spcPts val="7279"/>
              </a:lnSpc>
              <a:buFont typeface="Arial"/>
              <a:buChar char="•"/>
            </a:pPr>
            <a:r>
              <a:rPr lang="en-US" sz="5199">
                <a:solidFill>
                  <a:srgbClr val="222222"/>
                </a:solidFill>
                <a:latin typeface="Canva Sans Bold"/>
              </a:rPr>
              <a:t>Data Involved and Brief Overview</a:t>
            </a:r>
          </a:p>
          <a:p>
            <a:pPr marL="1122679" lvl="1" indent="-561340" algn="ctr">
              <a:lnSpc>
                <a:spcPts val="7279"/>
              </a:lnSpc>
              <a:buFont typeface="Arial"/>
              <a:buChar char="•"/>
            </a:pPr>
            <a:r>
              <a:rPr lang="en-US" sz="5199">
                <a:solidFill>
                  <a:srgbClr val="222222"/>
                </a:solidFill>
                <a:latin typeface="Canva Sans Bold"/>
              </a:rPr>
              <a:t>Steps involved in the Analysis</a:t>
            </a:r>
          </a:p>
          <a:p>
            <a:pPr marL="1122679" lvl="1" indent="-561340" algn="ctr">
              <a:lnSpc>
                <a:spcPts val="7279"/>
              </a:lnSpc>
              <a:buFont typeface="Arial"/>
              <a:buChar char="•"/>
            </a:pPr>
            <a:r>
              <a:rPr lang="en-US" sz="5199">
                <a:solidFill>
                  <a:srgbClr val="222222"/>
                </a:solidFill>
                <a:latin typeface="Canva Sans Bold"/>
              </a:rPr>
              <a:t>Hypothesis Testing b/w different types of reviews</a:t>
            </a:r>
          </a:p>
          <a:p>
            <a:pPr marL="1122679" lvl="1" indent="-561340" algn="ctr">
              <a:lnSpc>
                <a:spcPts val="7279"/>
              </a:lnSpc>
              <a:buFont typeface="Arial"/>
              <a:buChar char="•"/>
            </a:pPr>
            <a:r>
              <a:rPr lang="en-US" sz="5199">
                <a:solidFill>
                  <a:srgbClr val="222222"/>
                </a:solidFill>
                <a:latin typeface="Canva Sans Bold"/>
              </a:rPr>
              <a:t>Determining Customer Journey</a:t>
            </a:r>
          </a:p>
          <a:p>
            <a:pPr marL="1122679" lvl="1" indent="-561340" algn="ctr">
              <a:lnSpc>
                <a:spcPts val="7279"/>
              </a:lnSpc>
              <a:buFont typeface="Arial"/>
              <a:buChar char="•"/>
            </a:pPr>
            <a:r>
              <a:rPr lang="en-US" sz="5199">
                <a:solidFill>
                  <a:srgbClr val="222222"/>
                </a:solidFill>
                <a:latin typeface="Canva Sans Bold"/>
              </a:rPr>
              <a:t>Recommendations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A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62000" y="758530"/>
            <a:ext cx="809843" cy="1274144"/>
          </a:xfrm>
          <a:custGeom>
            <a:avLst/>
            <a:gdLst/>
            <a:ahLst/>
            <a:cxnLst/>
            <a:rect l="l" t="t" r="r" b="b"/>
            <a:pathLst>
              <a:path w="809843" h="1274144">
                <a:moveTo>
                  <a:pt x="0" y="0"/>
                </a:moveTo>
                <a:lnTo>
                  <a:pt x="809842" y="0"/>
                </a:lnTo>
                <a:lnTo>
                  <a:pt x="809842" y="1274144"/>
                </a:lnTo>
                <a:lnTo>
                  <a:pt x="0" y="12741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492444" y="3862437"/>
            <a:ext cx="809843" cy="1274144"/>
          </a:xfrm>
          <a:custGeom>
            <a:avLst/>
            <a:gdLst/>
            <a:ahLst/>
            <a:cxnLst/>
            <a:rect l="l" t="t" r="r" b="b"/>
            <a:pathLst>
              <a:path w="809843" h="1274144">
                <a:moveTo>
                  <a:pt x="0" y="0"/>
                </a:moveTo>
                <a:lnTo>
                  <a:pt x="809842" y="0"/>
                </a:lnTo>
                <a:lnTo>
                  <a:pt x="809842" y="1274144"/>
                </a:lnTo>
                <a:lnTo>
                  <a:pt x="0" y="12741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0373" y="7450819"/>
            <a:ext cx="809843" cy="1274144"/>
          </a:xfrm>
          <a:custGeom>
            <a:avLst/>
            <a:gdLst/>
            <a:ahLst/>
            <a:cxnLst/>
            <a:rect l="l" t="t" r="r" b="b"/>
            <a:pathLst>
              <a:path w="809843" h="1274144">
                <a:moveTo>
                  <a:pt x="0" y="0"/>
                </a:moveTo>
                <a:lnTo>
                  <a:pt x="809843" y="0"/>
                </a:lnTo>
                <a:lnTo>
                  <a:pt x="809843" y="1274144"/>
                </a:lnTo>
                <a:lnTo>
                  <a:pt x="0" y="12741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7075896" y="3511214"/>
            <a:ext cx="3812967" cy="3264571"/>
            <a:chOff x="0" y="0"/>
            <a:chExt cx="7416698" cy="6350000"/>
          </a:xfrm>
        </p:grpSpPr>
        <p:sp>
          <p:nvSpPr>
            <p:cNvPr id="6" name="Freeform 6"/>
            <p:cNvSpPr/>
            <p:nvPr/>
          </p:nvSpPr>
          <p:spPr>
            <a:xfrm>
              <a:off x="-26899" y="-26899"/>
              <a:ext cx="7468933" cy="6376885"/>
            </a:xfrm>
            <a:custGeom>
              <a:avLst/>
              <a:gdLst/>
              <a:ahLst/>
              <a:cxnLst/>
              <a:rect l="l" t="t" r="r" b="b"/>
              <a:pathLst>
                <a:path w="7468933" h="6376885">
                  <a:moveTo>
                    <a:pt x="7440867" y="2007489"/>
                  </a:moveTo>
                  <a:lnTo>
                    <a:pt x="7244855" y="3791471"/>
                  </a:lnTo>
                  <a:lnTo>
                    <a:pt x="7257237" y="3893007"/>
                  </a:lnTo>
                  <a:lnTo>
                    <a:pt x="2752674" y="4442866"/>
                  </a:lnTo>
                  <a:lnTo>
                    <a:pt x="2237993" y="5094706"/>
                  </a:lnTo>
                  <a:cubicBezTo>
                    <a:pt x="2225281" y="5110810"/>
                    <a:pt x="2229827" y="5126533"/>
                    <a:pt x="2233663" y="5134457"/>
                  </a:cubicBezTo>
                  <a:cubicBezTo>
                    <a:pt x="2237498" y="5142382"/>
                    <a:pt x="2247010" y="5155679"/>
                    <a:pt x="2267546" y="5155679"/>
                  </a:cubicBezTo>
                  <a:lnTo>
                    <a:pt x="6964540" y="5155679"/>
                  </a:lnTo>
                  <a:lnTo>
                    <a:pt x="6964540" y="5360492"/>
                  </a:lnTo>
                  <a:lnTo>
                    <a:pt x="6571881" y="5360492"/>
                  </a:lnTo>
                  <a:lnTo>
                    <a:pt x="6443014" y="5692013"/>
                  </a:lnTo>
                  <a:cubicBezTo>
                    <a:pt x="6523557" y="5763869"/>
                    <a:pt x="6574573" y="5868137"/>
                    <a:pt x="6574573" y="5984557"/>
                  </a:cubicBezTo>
                  <a:cubicBezTo>
                    <a:pt x="6574573" y="6201232"/>
                    <a:pt x="6398919" y="6376886"/>
                    <a:pt x="6182257" y="6376886"/>
                  </a:cubicBezTo>
                  <a:cubicBezTo>
                    <a:pt x="5965583" y="6376886"/>
                    <a:pt x="5789942" y="6201232"/>
                    <a:pt x="5789942" y="5984557"/>
                  </a:cubicBezTo>
                  <a:cubicBezTo>
                    <a:pt x="5789942" y="5861406"/>
                    <a:pt x="5846774" y="5751627"/>
                    <a:pt x="5935547" y="5679707"/>
                  </a:cubicBezTo>
                  <a:lnTo>
                    <a:pt x="5842685" y="5360492"/>
                  </a:lnTo>
                  <a:lnTo>
                    <a:pt x="3257665" y="5360492"/>
                  </a:lnTo>
                  <a:lnTo>
                    <a:pt x="3128798" y="5692013"/>
                  </a:lnTo>
                  <a:cubicBezTo>
                    <a:pt x="3209341" y="5763869"/>
                    <a:pt x="3260357" y="5868137"/>
                    <a:pt x="3260357" y="5984557"/>
                  </a:cubicBezTo>
                  <a:cubicBezTo>
                    <a:pt x="3260357" y="6201232"/>
                    <a:pt x="3084703" y="6376886"/>
                    <a:pt x="2868041" y="6376886"/>
                  </a:cubicBezTo>
                  <a:cubicBezTo>
                    <a:pt x="2651367" y="6376886"/>
                    <a:pt x="2475713" y="6201232"/>
                    <a:pt x="2475713" y="5984557"/>
                  </a:cubicBezTo>
                  <a:cubicBezTo>
                    <a:pt x="2475713" y="5861406"/>
                    <a:pt x="2532545" y="5751627"/>
                    <a:pt x="2621318" y="5679707"/>
                  </a:cubicBezTo>
                  <a:lnTo>
                    <a:pt x="2528456" y="5360492"/>
                  </a:lnTo>
                  <a:lnTo>
                    <a:pt x="2267547" y="5360492"/>
                  </a:lnTo>
                  <a:cubicBezTo>
                    <a:pt x="2173821" y="5360492"/>
                    <a:pt x="2090217" y="5308092"/>
                    <a:pt x="2049336" y="5223751"/>
                  </a:cubicBezTo>
                  <a:cubicBezTo>
                    <a:pt x="2008467" y="5139398"/>
                    <a:pt x="2019173" y="5041316"/>
                    <a:pt x="2077250" y="4967783"/>
                  </a:cubicBezTo>
                  <a:lnTo>
                    <a:pt x="2515527" y="4412717"/>
                  </a:lnTo>
                  <a:lnTo>
                    <a:pt x="885825" y="642087"/>
                  </a:lnTo>
                  <a:lnTo>
                    <a:pt x="680568" y="543967"/>
                  </a:lnTo>
                  <a:lnTo>
                    <a:pt x="643395" y="625856"/>
                  </a:lnTo>
                  <a:lnTo>
                    <a:pt x="140793" y="397701"/>
                  </a:lnTo>
                  <a:cubicBezTo>
                    <a:pt x="43206" y="353403"/>
                    <a:pt x="0" y="238379"/>
                    <a:pt x="44298" y="140793"/>
                  </a:cubicBezTo>
                  <a:lnTo>
                    <a:pt x="44298" y="140793"/>
                  </a:lnTo>
                  <a:cubicBezTo>
                    <a:pt x="88596" y="43206"/>
                    <a:pt x="203619" y="0"/>
                    <a:pt x="301206" y="44298"/>
                  </a:cubicBezTo>
                  <a:lnTo>
                    <a:pt x="803809" y="272441"/>
                  </a:lnTo>
                  <a:lnTo>
                    <a:pt x="765226" y="357429"/>
                  </a:lnTo>
                  <a:lnTo>
                    <a:pt x="1043382" y="490398"/>
                  </a:lnTo>
                  <a:lnTo>
                    <a:pt x="1327493" y="1147750"/>
                  </a:lnTo>
                  <a:lnTo>
                    <a:pt x="7021386" y="1508506"/>
                  </a:lnTo>
                  <a:cubicBezTo>
                    <a:pt x="7277939" y="1524762"/>
                    <a:pt x="7468934" y="1751965"/>
                    <a:pt x="7440867" y="2007489"/>
                  </a:cubicBezTo>
                  <a:close/>
                </a:path>
              </a:pathLst>
            </a:custGeom>
            <a:ln w="571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sp>
      </p:grpSp>
      <p:sp>
        <p:nvSpPr>
          <p:cNvPr id="7" name="Freeform 7"/>
          <p:cNvSpPr/>
          <p:nvPr/>
        </p:nvSpPr>
        <p:spPr>
          <a:xfrm>
            <a:off x="2426892" y="3511214"/>
            <a:ext cx="3490082" cy="3464699"/>
          </a:xfrm>
          <a:custGeom>
            <a:avLst/>
            <a:gdLst/>
            <a:ahLst/>
            <a:cxnLst/>
            <a:rect l="l" t="t" r="r" b="b"/>
            <a:pathLst>
              <a:path w="3490082" h="3464699">
                <a:moveTo>
                  <a:pt x="0" y="0"/>
                </a:moveTo>
                <a:lnTo>
                  <a:pt x="3490082" y="0"/>
                </a:lnTo>
                <a:lnTo>
                  <a:pt x="3490082" y="3464700"/>
                </a:lnTo>
                <a:lnTo>
                  <a:pt x="0" y="34647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2542124" y="3564206"/>
            <a:ext cx="4342241" cy="3158588"/>
          </a:xfrm>
          <a:custGeom>
            <a:avLst/>
            <a:gdLst/>
            <a:ahLst/>
            <a:cxnLst/>
            <a:rect l="l" t="t" r="r" b="b"/>
            <a:pathLst>
              <a:path w="4342241" h="3158588">
                <a:moveTo>
                  <a:pt x="0" y="0"/>
                </a:moveTo>
                <a:lnTo>
                  <a:pt x="4342241" y="0"/>
                </a:lnTo>
                <a:lnTo>
                  <a:pt x="4342241" y="3158588"/>
                </a:lnTo>
                <a:lnTo>
                  <a:pt x="0" y="31585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7998217" y="7427007"/>
            <a:ext cx="3197723" cy="1214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59"/>
              </a:lnSpc>
            </a:pPr>
            <a:r>
              <a:rPr lang="en-US" sz="3099">
                <a:solidFill>
                  <a:srgbClr val="B24A3B"/>
                </a:solidFill>
                <a:latin typeface="Montserrat Classic Bold"/>
              </a:rPr>
              <a:t>Personalisation and Targeting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260385" y="7351441"/>
            <a:ext cx="2905720" cy="128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79"/>
              </a:lnSpc>
            </a:pPr>
            <a:r>
              <a:rPr lang="en-US" sz="3299">
                <a:solidFill>
                  <a:srgbClr val="B24A3B"/>
                </a:solidFill>
                <a:latin typeface="Montserrat Classic Bold"/>
              </a:rPr>
              <a:t>Conversion Optimisation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426892" y="1815042"/>
            <a:ext cx="13434216" cy="909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40"/>
              </a:lnSpc>
            </a:pPr>
            <a:r>
              <a:rPr lang="en-US" sz="6400">
                <a:solidFill>
                  <a:srgbClr val="222222"/>
                </a:solidFill>
                <a:latin typeface="Montserrat Classic Bold"/>
              </a:rPr>
              <a:t>Business Significance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995611" y="7417482"/>
            <a:ext cx="3238024" cy="1256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19"/>
              </a:lnSpc>
            </a:pPr>
            <a:r>
              <a:rPr lang="en-US" sz="3199">
                <a:solidFill>
                  <a:srgbClr val="B24A3B"/>
                </a:solidFill>
                <a:latin typeface="Montserrat Classic Bold"/>
              </a:rPr>
              <a:t>Understanding </a:t>
            </a:r>
          </a:p>
          <a:p>
            <a:pPr algn="ctr">
              <a:lnSpc>
                <a:spcPts val="5119"/>
              </a:lnSpc>
              <a:spcBef>
                <a:spcPct val="0"/>
              </a:spcBef>
            </a:pPr>
            <a:r>
              <a:rPr lang="en-US" sz="3199">
                <a:solidFill>
                  <a:srgbClr val="B24A3B"/>
                </a:solidFill>
                <a:latin typeface="Montserrat Classic Bold"/>
              </a:rPr>
              <a:t>User Behaviour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A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8249" y="1349375"/>
            <a:ext cx="3594126" cy="8937625"/>
            <a:chOff x="0" y="0"/>
            <a:chExt cx="4792168" cy="11916833"/>
          </a:xfrm>
        </p:grpSpPr>
        <p:sp>
          <p:nvSpPr>
            <p:cNvPr id="3" name="Freeform 3"/>
            <p:cNvSpPr/>
            <p:nvPr/>
          </p:nvSpPr>
          <p:spPr>
            <a:xfrm>
              <a:off x="0" y="6076064"/>
              <a:ext cx="3712378" cy="5840770"/>
            </a:xfrm>
            <a:custGeom>
              <a:avLst/>
              <a:gdLst/>
              <a:ahLst/>
              <a:cxnLst/>
              <a:rect l="l" t="t" r="r" b="b"/>
              <a:pathLst>
                <a:path w="3712378" h="5840770">
                  <a:moveTo>
                    <a:pt x="0" y="0"/>
                  </a:moveTo>
                  <a:lnTo>
                    <a:pt x="3712378" y="0"/>
                  </a:lnTo>
                  <a:lnTo>
                    <a:pt x="3712378" y="5840769"/>
                  </a:lnTo>
                  <a:lnTo>
                    <a:pt x="0" y="5840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3712378" y="4951707"/>
              <a:ext cx="1079790" cy="1698859"/>
            </a:xfrm>
            <a:custGeom>
              <a:avLst/>
              <a:gdLst/>
              <a:ahLst/>
              <a:cxnLst/>
              <a:rect l="l" t="t" r="r" b="b"/>
              <a:pathLst>
                <a:path w="1079790" h="1698859">
                  <a:moveTo>
                    <a:pt x="0" y="0"/>
                  </a:moveTo>
                  <a:lnTo>
                    <a:pt x="1079790" y="0"/>
                  </a:lnTo>
                  <a:lnTo>
                    <a:pt x="1079790" y="1698859"/>
                  </a:lnTo>
                  <a:lnTo>
                    <a:pt x="0" y="16988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540933" y="0"/>
              <a:ext cx="1079790" cy="1698859"/>
            </a:xfrm>
            <a:custGeom>
              <a:avLst/>
              <a:gdLst/>
              <a:ahLst/>
              <a:cxnLst/>
              <a:rect l="l" t="t" r="r" b="b"/>
              <a:pathLst>
                <a:path w="1079790" h="1698859">
                  <a:moveTo>
                    <a:pt x="0" y="0"/>
                  </a:moveTo>
                  <a:lnTo>
                    <a:pt x="1079790" y="0"/>
                  </a:lnTo>
                  <a:lnTo>
                    <a:pt x="1079790" y="1698859"/>
                  </a:lnTo>
                  <a:lnTo>
                    <a:pt x="0" y="16988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5206767" y="2063115"/>
            <a:ext cx="12862984" cy="8656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79"/>
              </a:lnSpc>
            </a:pPr>
            <a:r>
              <a:rPr lang="en-US" sz="3299">
                <a:solidFill>
                  <a:srgbClr val="000000"/>
                </a:solidFill>
                <a:latin typeface="Montserrat Classic Bold"/>
              </a:rPr>
              <a:t>Defining the objective</a:t>
            </a:r>
          </a:p>
          <a:p>
            <a:pPr algn="ctr">
              <a:lnSpc>
                <a:spcPts val="4959"/>
              </a:lnSpc>
            </a:pPr>
            <a:r>
              <a:rPr lang="en-US" sz="3099">
                <a:solidFill>
                  <a:srgbClr val="000000"/>
                </a:solidFill>
                <a:latin typeface="Montserrat Classic"/>
              </a:rPr>
              <a:t>To understand how customers behave and what drives their choices online</a:t>
            </a:r>
          </a:p>
          <a:p>
            <a:pPr algn="ctr">
              <a:lnSpc>
                <a:spcPts val="2880"/>
              </a:lnSpc>
            </a:pPr>
            <a:r>
              <a:rPr lang="en-US" sz="1800">
                <a:solidFill>
                  <a:srgbClr val="000000"/>
                </a:solidFill>
                <a:latin typeface="Montserrat Classic Bold"/>
              </a:rPr>
              <a:t> </a:t>
            </a:r>
          </a:p>
          <a:p>
            <a:pPr algn="ctr">
              <a:lnSpc>
                <a:spcPts val="5439"/>
              </a:lnSpc>
            </a:pPr>
            <a:r>
              <a:rPr lang="en-US" sz="3399">
                <a:solidFill>
                  <a:srgbClr val="000000"/>
                </a:solidFill>
                <a:latin typeface="Montserrat Classic Bold"/>
              </a:rPr>
              <a:t>What key aspects determine consumer behaviour ?</a:t>
            </a:r>
          </a:p>
          <a:p>
            <a:pPr marL="604518" lvl="1" indent="-302259" algn="ctr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Montserrat Classic"/>
              </a:rPr>
              <a:t>Influence of different sources of product reviews and which review type performs ensures high returns</a:t>
            </a:r>
          </a:p>
          <a:p>
            <a:pPr marL="604518" lvl="1" indent="-302259" algn="ctr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Montserrat Classic"/>
              </a:rPr>
              <a:t>Mapping customer journey in terms of most commonly visited pages, buying trends in lieu of gender, the average number of visits etc.</a:t>
            </a:r>
          </a:p>
          <a:p>
            <a:pPr algn="ctr">
              <a:lnSpc>
                <a:spcPts val="3999"/>
              </a:lnSpc>
            </a:pPr>
            <a:endParaRPr lang="en-US" sz="2799">
              <a:solidFill>
                <a:srgbClr val="000000"/>
              </a:solidFill>
              <a:latin typeface="Montserrat Classic"/>
            </a:endParaRPr>
          </a:p>
          <a:p>
            <a:pPr algn="ctr">
              <a:lnSpc>
                <a:spcPts val="5279"/>
              </a:lnSpc>
            </a:pPr>
            <a:r>
              <a:rPr lang="en-US" sz="3299">
                <a:solidFill>
                  <a:srgbClr val="000000"/>
                </a:solidFill>
                <a:latin typeface="Montserrat Classic Bold"/>
              </a:rPr>
              <a:t>How to effectively use the inferences gained?</a:t>
            </a:r>
          </a:p>
          <a:p>
            <a:pPr algn="ctr">
              <a:lnSpc>
                <a:spcPts val="5119"/>
              </a:lnSpc>
            </a:pPr>
            <a:r>
              <a:rPr lang="en-US" sz="3199">
                <a:solidFill>
                  <a:srgbClr val="000000"/>
                </a:solidFill>
                <a:latin typeface="Montserrat Classic"/>
              </a:rPr>
              <a:t>Recommend strategies to optimise the user experience, product performance and overall conversion rates </a:t>
            </a:r>
          </a:p>
          <a:p>
            <a:pPr algn="ctr">
              <a:lnSpc>
                <a:spcPts val="3999"/>
              </a:lnSpc>
            </a:pPr>
            <a:endParaRPr lang="en-US" sz="3199">
              <a:solidFill>
                <a:srgbClr val="000000"/>
              </a:solidFill>
              <a:latin typeface="Montserrat Classic"/>
            </a:endParaRPr>
          </a:p>
          <a:p>
            <a:pPr algn="ctr">
              <a:lnSpc>
                <a:spcPts val="384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Montserrat Classic"/>
              </a:rPr>
              <a:t>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312356" y="312418"/>
            <a:ext cx="7261860" cy="1194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79"/>
              </a:lnSpc>
              <a:spcBef>
                <a:spcPct val="0"/>
              </a:spcBef>
            </a:pPr>
            <a:r>
              <a:rPr lang="en-US" sz="6299">
                <a:solidFill>
                  <a:srgbClr val="000000"/>
                </a:solidFill>
                <a:latin typeface="Montserrat Classic Bold"/>
              </a:rPr>
              <a:t>Problem Scenario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A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6131591" y="1264287"/>
            <a:ext cx="6024818" cy="8470746"/>
          </a:xfrm>
          <a:custGeom>
            <a:avLst/>
            <a:gdLst/>
            <a:ahLst/>
            <a:cxnLst/>
            <a:rect l="l" t="t" r="r" b="b"/>
            <a:pathLst>
              <a:path w="6024818" h="8470746">
                <a:moveTo>
                  <a:pt x="0" y="0"/>
                </a:moveTo>
                <a:lnTo>
                  <a:pt x="6024818" y="0"/>
                </a:lnTo>
                <a:lnTo>
                  <a:pt x="6024818" y="8470746"/>
                </a:lnTo>
                <a:lnTo>
                  <a:pt x="0" y="8470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836644" y="30931"/>
            <a:ext cx="7014686" cy="1194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79"/>
              </a:lnSpc>
              <a:spcBef>
                <a:spcPct val="0"/>
              </a:spcBef>
            </a:pPr>
            <a:r>
              <a:rPr lang="en-US" sz="6299">
                <a:solidFill>
                  <a:srgbClr val="000000"/>
                </a:solidFill>
                <a:latin typeface="Montserrat Classic Bold"/>
              </a:rPr>
              <a:t>Data Information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951804" y="1452169"/>
            <a:ext cx="3901973" cy="1256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1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Montserrat Classic Bold"/>
              </a:rPr>
              <a:t>CLICKSTREAM FEED DATA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506811" y="4809415"/>
            <a:ext cx="3346966" cy="1256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19"/>
              </a:lnSpc>
            </a:pPr>
            <a:r>
              <a:rPr lang="en-US" sz="3199">
                <a:solidFill>
                  <a:srgbClr val="000000"/>
                </a:solidFill>
                <a:latin typeface="Montserrat Classic Bold"/>
              </a:rPr>
              <a:t>REVIEWS  </a:t>
            </a:r>
          </a:p>
          <a:p>
            <a:pPr algn="ctr">
              <a:lnSpc>
                <a:spcPts val="511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Montserrat Classic Bold"/>
              </a:rPr>
              <a:t>AND PRODUCTS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065585" y="8365316"/>
            <a:ext cx="4156829" cy="608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1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Montserrat Classic Bold"/>
              </a:rPr>
              <a:t>REGISTERED USERS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81367" y="1349375"/>
            <a:ext cx="3594126" cy="8937625"/>
            <a:chOff x="0" y="0"/>
            <a:chExt cx="4792168" cy="11916833"/>
          </a:xfrm>
        </p:grpSpPr>
        <p:sp>
          <p:nvSpPr>
            <p:cNvPr id="9" name="Freeform 9"/>
            <p:cNvSpPr/>
            <p:nvPr/>
          </p:nvSpPr>
          <p:spPr>
            <a:xfrm>
              <a:off x="0" y="6076064"/>
              <a:ext cx="3712378" cy="5840770"/>
            </a:xfrm>
            <a:custGeom>
              <a:avLst/>
              <a:gdLst/>
              <a:ahLst/>
              <a:cxnLst/>
              <a:rect l="l" t="t" r="r" b="b"/>
              <a:pathLst>
                <a:path w="3712378" h="5840770">
                  <a:moveTo>
                    <a:pt x="0" y="0"/>
                  </a:moveTo>
                  <a:lnTo>
                    <a:pt x="3712378" y="0"/>
                  </a:lnTo>
                  <a:lnTo>
                    <a:pt x="3712378" y="5840769"/>
                  </a:lnTo>
                  <a:lnTo>
                    <a:pt x="0" y="5840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3712378" y="4951707"/>
              <a:ext cx="1079790" cy="1698859"/>
            </a:xfrm>
            <a:custGeom>
              <a:avLst/>
              <a:gdLst/>
              <a:ahLst/>
              <a:cxnLst/>
              <a:rect l="l" t="t" r="r" b="b"/>
              <a:pathLst>
                <a:path w="1079790" h="1698859">
                  <a:moveTo>
                    <a:pt x="0" y="0"/>
                  </a:moveTo>
                  <a:lnTo>
                    <a:pt x="1079790" y="0"/>
                  </a:lnTo>
                  <a:lnTo>
                    <a:pt x="1079790" y="1698859"/>
                  </a:lnTo>
                  <a:lnTo>
                    <a:pt x="0" y="16988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1540933" y="0"/>
              <a:ext cx="1079790" cy="1698859"/>
            </a:xfrm>
            <a:custGeom>
              <a:avLst/>
              <a:gdLst/>
              <a:ahLst/>
              <a:cxnLst/>
              <a:rect l="l" t="t" r="r" b="b"/>
              <a:pathLst>
                <a:path w="1079790" h="1698859">
                  <a:moveTo>
                    <a:pt x="0" y="0"/>
                  </a:moveTo>
                  <a:lnTo>
                    <a:pt x="1079790" y="0"/>
                  </a:lnTo>
                  <a:lnTo>
                    <a:pt x="1079790" y="1698859"/>
                  </a:lnTo>
                  <a:lnTo>
                    <a:pt x="0" y="16988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A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8623" y="5820798"/>
            <a:ext cx="2784283" cy="4380577"/>
          </a:xfrm>
          <a:custGeom>
            <a:avLst/>
            <a:gdLst/>
            <a:ahLst/>
            <a:cxnLst/>
            <a:rect l="l" t="t" r="r" b="b"/>
            <a:pathLst>
              <a:path w="2784283" h="4380577">
                <a:moveTo>
                  <a:pt x="0" y="0"/>
                </a:moveTo>
                <a:lnTo>
                  <a:pt x="2784283" y="0"/>
                </a:lnTo>
                <a:lnTo>
                  <a:pt x="2784283" y="4380577"/>
                </a:lnTo>
                <a:lnTo>
                  <a:pt x="0" y="43805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5908331" y="266700"/>
            <a:ext cx="2167243" cy="5974075"/>
            <a:chOff x="0" y="0"/>
            <a:chExt cx="2889658" cy="79654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889658" cy="4546365"/>
            </a:xfrm>
            <a:custGeom>
              <a:avLst/>
              <a:gdLst/>
              <a:ahLst/>
              <a:cxnLst/>
              <a:rect l="l" t="t" r="r" b="b"/>
              <a:pathLst>
                <a:path w="2889658" h="4546365">
                  <a:moveTo>
                    <a:pt x="0" y="0"/>
                  </a:moveTo>
                  <a:lnTo>
                    <a:pt x="2889658" y="0"/>
                  </a:lnTo>
                  <a:lnTo>
                    <a:pt x="2889658" y="4546365"/>
                  </a:lnTo>
                  <a:lnTo>
                    <a:pt x="0" y="4546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773143" y="6266575"/>
              <a:ext cx="1079790" cy="1698859"/>
            </a:xfrm>
            <a:custGeom>
              <a:avLst/>
              <a:gdLst/>
              <a:ahLst/>
              <a:cxnLst/>
              <a:rect l="l" t="t" r="r" b="b"/>
              <a:pathLst>
                <a:path w="1079790" h="1698859">
                  <a:moveTo>
                    <a:pt x="0" y="0"/>
                  </a:moveTo>
                  <a:lnTo>
                    <a:pt x="1079790" y="0"/>
                  </a:lnTo>
                  <a:lnTo>
                    <a:pt x="1079790" y="1698858"/>
                  </a:lnTo>
                  <a:lnTo>
                    <a:pt x="0" y="1698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>
            <a:off x="2343329" y="4616911"/>
            <a:ext cx="4349108" cy="4349108"/>
          </a:xfrm>
          <a:custGeom>
            <a:avLst/>
            <a:gdLst/>
            <a:ahLst/>
            <a:cxnLst/>
            <a:rect l="l" t="t" r="r" b="b"/>
            <a:pathLst>
              <a:path w="4349108" h="4349108">
                <a:moveTo>
                  <a:pt x="0" y="0"/>
                </a:moveTo>
                <a:lnTo>
                  <a:pt x="4349108" y="0"/>
                </a:lnTo>
                <a:lnTo>
                  <a:pt x="4349108" y="4349109"/>
                </a:lnTo>
                <a:lnTo>
                  <a:pt x="0" y="43491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92421" y="-333375"/>
            <a:ext cx="8450924" cy="1682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197"/>
              </a:lnSpc>
              <a:spcBef>
                <a:spcPct val="0"/>
              </a:spcBef>
            </a:pPr>
            <a:r>
              <a:rPr lang="en-US" sz="8873">
                <a:solidFill>
                  <a:srgbClr val="222222"/>
                </a:solidFill>
                <a:latin typeface="Montserrat Classic Bold"/>
              </a:rPr>
              <a:t>Brief Overview</a:t>
            </a:r>
          </a:p>
        </p:txBody>
      </p:sp>
      <p:sp>
        <p:nvSpPr>
          <p:cNvPr id="8" name="Freeform 8"/>
          <p:cNvSpPr/>
          <p:nvPr/>
        </p:nvSpPr>
        <p:spPr>
          <a:xfrm>
            <a:off x="7401392" y="1183088"/>
            <a:ext cx="4357371" cy="4357371"/>
          </a:xfrm>
          <a:custGeom>
            <a:avLst/>
            <a:gdLst/>
            <a:ahLst/>
            <a:cxnLst/>
            <a:rect l="l" t="t" r="r" b="b"/>
            <a:pathLst>
              <a:path w="4357371" h="4357371">
                <a:moveTo>
                  <a:pt x="0" y="0"/>
                </a:moveTo>
                <a:lnTo>
                  <a:pt x="4357370" y="0"/>
                </a:lnTo>
                <a:lnTo>
                  <a:pt x="4357370" y="4357371"/>
                </a:lnTo>
                <a:lnTo>
                  <a:pt x="0" y="43573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2467717" y="4646502"/>
            <a:ext cx="4319518" cy="4319518"/>
          </a:xfrm>
          <a:custGeom>
            <a:avLst/>
            <a:gdLst/>
            <a:ahLst/>
            <a:cxnLst/>
            <a:rect l="l" t="t" r="r" b="b"/>
            <a:pathLst>
              <a:path w="4319518" h="4319518">
                <a:moveTo>
                  <a:pt x="0" y="0"/>
                </a:moveTo>
                <a:lnTo>
                  <a:pt x="4319518" y="0"/>
                </a:lnTo>
                <a:lnTo>
                  <a:pt x="4319518" y="4319518"/>
                </a:lnTo>
                <a:lnTo>
                  <a:pt x="0" y="43195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460483" y="5463003"/>
            <a:ext cx="4114800" cy="2235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39"/>
              </a:lnSpc>
            </a:pPr>
            <a:r>
              <a:rPr lang="en-US" sz="5899">
                <a:solidFill>
                  <a:srgbClr val="222222"/>
                </a:solidFill>
                <a:latin typeface="Montserrat Classic Bold"/>
              </a:rPr>
              <a:t>16123</a:t>
            </a:r>
          </a:p>
          <a:p>
            <a:pPr algn="ctr">
              <a:lnSpc>
                <a:spcPts val="3200"/>
              </a:lnSpc>
            </a:pPr>
            <a:endParaRPr lang="en-US" sz="5899">
              <a:solidFill>
                <a:srgbClr val="222222"/>
              </a:solidFill>
              <a:latin typeface="Montserrat Classic Bold"/>
            </a:endParaRPr>
          </a:p>
          <a:p>
            <a:pPr algn="ctr">
              <a:lnSpc>
                <a:spcPts val="5119"/>
              </a:lnSpc>
              <a:spcBef>
                <a:spcPct val="0"/>
              </a:spcBef>
            </a:pPr>
            <a:r>
              <a:rPr lang="en-US" sz="3199">
                <a:solidFill>
                  <a:srgbClr val="222222"/>
                </a:solidFill>
                <a:latin typeface="Montserrat Classic"/>
              </a:rPr>
              <a:t>Unique Users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22677" y="1818792"/>
            <a:ext cx="4114800" cy="2457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79"/>
              </a:lnSpc>
            </a:pPr>
            <a:r>
              <a:rPr lang="en-US" sz="5799">
                <a:solidFill>
                  <a:srgbClr val="222222"/>
                </a:solidFill>
                <a:latin typeface="Montserrat Classic Bold"/>
              </a:rPr>
              <a:t>5 </a:t>
            </a:r>
          </a:p>
          <a:p>
            <a:pPr algn="ctr">
              <a:lnSpc>
                <a:spcPts val="5119"/>
              </a:lnSpc>
              <a:spcBef>
                <a:spcPct val="0"/>
              </a:spcBef>
            </a:pPr>
            <a:r>
              <a:rPr lang="en-US" sz="3199">
                <a:solidFill>
                  <a:srgbClr val="222222"/>
                </a:solidFill>
                <a:latin typeface="Montserrat Classic"/>
              </a:rPr>
              <a:t>Website Landing Pages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672435" y="5308380"/>
            <a:ext cx="4114800" cy="2535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59"/>
              </a:lnSpc>
            </a:pPr>
            <a:r>
              <a:rPr lang="en-US" sz="6099">
                <a:solidFill>
                  <a:srgbClr val="222222"/>
                </a:solidFill>
                <a:latin typeface="Montserrat Classic Bold"/>
              </a:rPr>
              <a:t>5 </a:t>
            </a:r>
          </a:p>
          <a:p>
            <a:pPr algn="ctr">
              <a:lnSpc>
                <a:spcPts val="5119"/>
              </a:lnSpc>
              <a:spcBef>
                <a:spcPct val="0"/>
              </a:spcBef>
            </a:pPr>
            <a:r>
              <a:rPr lang="en-US" sz="3199">
                <a:solidFill>
                  <a:srgbClr val="222222"/>
                </a:solidFill>
                <a:latin typeface="Montserrat Classic"/>
              </a:rPr>
              <a:t>Uniques Selling Products</a:t>
            </a:r>
          </a:p>
        </p:txBody>
      </p:sp>
      <p:sp>
        <p:nvSpPr>
          <p:cNvPr id="13" name="Freeform 13"/>
          <p:cNvSpPr/>
          <p:nvPr/>
        </p:nvSpPr>
        <p:spPr>
          <a:xfrm>
            <a:off x="7311562" y="5691603"/>
            <a:ext cx="4537030" cy="4537030"/>
          </a:xfrm>
          <a:custGeom>
            <a:avLst/>
            <a:gdLst/>
            <a:ahLst/>
            <a:cxnLst/>
            <a:rect l="l" t="t" r="r" b="b"/>
            <a:pathLst>
              <a:path w="4537030" h="4537030">
                <a:moveTo>
                  <a:pt x="0" y="0"/>
                </a:moveTo>
                <a:lnTo>
                  <a:pt x="4537030" y="0"/>
                </a:lnTo>
                <a:lnTo>
                  <a:pt x="4537030" y="4537030"/>
                </a:lnTo>
                <a:lnTo>
                  <a:pt x="0" y="45370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8165378" y="6421753"/>
            <a:ext cx="2829398" cy="2836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99"/>
              </a:lnSpc>
            </a:pPr>
            <a:r>
              <a:rPr lang="en-US" sz="5499">
                <a:solidFill>
                  <a:srgbClr val="222222"/>
                </a:solidFill>
                <a:latin typeface="Montserrat Classic Bold"/>
              </a:rPr>
              <a:t>51.64%</a:t>
            </a:r>
          </a:p>
          <a:p>
            <a:pPr algn="ctr">
              <a:lnSpc>
                <a:spcPts val="3520"/>
              </a:lnSpc>
            </a:pPr>
            <a:endParaRPr lang="en-US" sz="5499">
              <a:solidFill>
                <a:srgbClr val="222222"/>
              </a:solidFill>
              <a:latin typeface="Montserrat Classic Bold"/>
            </a:endParaRPr>
          </a:p>
          <a:p>
            <a:pPr algn="ctr">
              <a:lnSpc>
                <a:spcPts val="5119"/>
              </a:lnSpc>
            </a:pPr>
            <a:r>
              <a:rPr lang="en-US" sz="3199">
                <a:solidFill>
                  <a:srgbClr val="222222"/>
                </a:solidFill>
                <a:latin typeface="Montserrat Classic"/>
              </a:rPr>
              <a:t>Registered </a:t>
            </a:r>
          </a:p>
          <a:p>
            <a:pPr algn="ctr">
              <a:lnSpc>
                <a:spcPts val="5119"/>
              </a:lnSpc>
              <a:spcBef>
                <a:spcPct val="0"/>
              </a:spcBef>
            </a:pPr>
            <a:r>
              <a:rPr lang="en-US" sz="3199">
                <a:solidFill>
                  <a:srgbClr val="222222"/>
                </a:solidFill>
                <a:latin typeface="Montserrat Classic"/>
              </a:rPr>
              <a:t>Buyers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A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7142" y="5903516"/>
            <a:ext cx="2784283" cy="4380577"/>
          </a:xfrm>
          <a:custGeom>
            <a:avLst/>
            <a:gdLst/>
            <a:ahLst/>
            <a:cxnLst/>
            <a:rect l="l" t="t" r="r" b="b"/>
            <a:pathLst>
              <a:path w="2784283" h="4380577">
                <a:moveTo>
                  <a:pt x="0" y="0"/>
                </a:moveTo>
                <a:lnTo>
                  <a:pt x="2784283" y="0"/>
                </a:lnTo>
                <a:lnTo>
                  <a:pt x="2784283" y="4380577"/>
                </a:lnTo>
                <a:lnTo>
                  <a:pt x="0" y="43805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5812239" y="190500"/>
            <a:ext cx="2167243" cy="5974075"/>
            <a:chOff x="0" y="0"/>
            <a:chExt cx="2889658" cy="79654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889658" cy="4546365"/>
            </a:xfrm>
            <a:custGeom>
              <a:avLst/>
              <a:gdLst/>
              <a:ahLst/>
              <a:cxnLst/>
              <a:rect l="l" t="t" r="r" b="b"/>
              <a:pathLst>
                <a:path w="2889658" h="4546365">
                  <a:moveTo>
                    <a:pt x="0" y="0"/>
                  </a:moveTo>
                  <a:lnTo>
                    <a:pt x="2889658" y="0"/>
                  </a:lnTo>
                  <a:lnTo>
                    <a:pt x="2889658" y="4546365"/>
                  </a:lnTo>
                  <a:lnTo>
                    <a:pt x="0" y="4546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773143" y="6266575"/>
              <a:ext cx="1079790" cy="1698859"/>
            </a:xfrm>
            <a:custGeom>
              <a:avLst/>
              <a:gdLst/>
              <a:ahLst/>
              <a:cxnLst/>
              <a:rect l="l" t="t" r="r" b="b"/>
              <a:pathLst>
                <a:path w="1079790" h="1698859">
                  <a:moveTo>
                    <a:pt x="0" y="0"/>
                  </a:moveTo>
                  <a:lnTo>
                    <a:pt x="1079790" y="0"/>
                  </a:lnTo>
                  <a:lnTo>
                    <a:pt x="1079790" y="1698858"/>
                  </a:lnTo>
                  <a:lnTo>
                    <a:pt x="0" y="1698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>
            <a:off x="2871425" y="1564813"/>
            <a:ext cx="6186041" cy="978519"/>
          </a:xfrm>
          <a:custGeom>
            <a:avLst/>
            <a:gdLst/>
            <a:ahLst/>
            <a:cxnLst/>
            <a:rect l="l" t="t" r="r" b="b"/>
            <a:pathLst>
              <a:path w="6186041" h="978519">
                <a:moveTo>
                  <a:pt x="0" y="0"/>
                </a:moveTo>
                <a:lnTo>
                  <a:pt x="6186041" y="0"/>
                </a:lnTo>
                <a:lnTo>
                  <a:pt x="6186041" y="978519"/>
                </a:lnTo>
                <a:lnTo>
                  <a:pt x="0" y="9785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308518" y="3029107"/>
            <a:ext cx="7514331" cy="2268781"/>
          </a:xfrm>
          <a:custGeom>
            <a:avLst/>
            <a:gdLst/>
            <a:ahLst/>
            <a:cxnLst/>
            <a:rect l="l" t="t" r="r" b="b"/>
            <a:pathLst>
              <a:path w="7514331" h="2268781">
                <a:moveTo>
                  <a:pt x="0" y="0"/>
                </a:moveTo>
                <a:lnTo>
                  <a:pt x="7514332" y="0"/>
                </a:lnTo>
                <a:lnTo>
                  <a:pt x="7514332" y="2268781"/>
                </a:lnTo>
                <a:lnTo>
                  <a:pt x="0" y="22687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125565" y="-224942"/>
            <a:ext cx="8489580" cy="1739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41"/>
              </a:lnSpc>
              <a:spcBef>
                <a:spcPct val="0"/>
              </a:spcBef>
            </a:pPr>
            <a:r>
              <a:rPr lang="en-US" sz="9150">
                <a:solidFill>
                  <a:srgbClr val="000000"/>
                </a:solidFill>
                <a:latin typeface="Montserrat Classic Bold"/>
              </a:rPr>
              <a:t>Review Types</a:t>
            </a:r>
          </a:p>
        </p:txBody>
      </p:sp>
      <p:sp>
        <p:nvSpPr>
          <p:cNvPr id="9" name="Freeform 9"/>
          <p:cNvSpPr/>
          <p:nvPr/>
        </p:nvSpPr>
        <p:spPr>
          <a:xfrm>
            <a:off x="5137738" y="5393633"/>
            <a:ext cx="7834092" cy="2365325"/>
          </a:xfrm>
          <a:custGeom>
            <a:avLst/>
            <a:gdLst/>
            <a:ahLst/>
            <a:cxnLst/>
            <a:rect l="l" t="t" r="r" b="b"/>
            <a:pathLst>
              <a:path w="7834092" h="2365325">
                <a:moveTo>
                  <a:pt x="0" y="0"/>
                </a:moveTo>
                <a:lnTo>
                  <a:pt x="7834092" y="0"/>
                </a:lnTo>
                <a:lnTo>
                  <a:pt x="7834092" y="2365325"/>
                </a:lnTo>
                <a:lnTo>
                  <a:pt x="0" y="23653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003599" y="8025658"/>
            <a:ext cx="7480065" cy="2258435"/>
          </a:xfrm>
          <a:custGeom>
            <a:avLst/>
            <a:gdLst/>
            <a:ahLst/>
            <a:cxnLst/>
            <a:rect l="l" t="t" r="r" b="b"/>
            <a:pathLst>
              <a:path w="7480065" h="2258435">
                <a:moveTo>
                  <a:pt x="0" y="0"/>
                </a:moveTo>
                <a:lnTo>
                  <a:pt x="7480065" y="0"/>
                </a:lnTo>
                <a:lnTo>
                  <a:pt x="7480065" y="2258436"/>
                </a:lnTo>
                <a:lnTo>
                  <a:pt x="0" y="22584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582910" y="3298298"/>
            <a:ext cx="6651377" cy="1606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39"/>
              </a:lnSpc>
            </a:pPr>
            <a:r>
              <a:rPr lang="en-US" sz="3212">
                <a:solidFill>
                  <a:srgbClr val="B24A3B"/>
                </a:solidFill>
                <a:latin typeface="Montserrat Classic Bold"/>
              </a:rPr>
              <a:t>Customer Review</a:t>
            </a:r>
          </a:p>
          <a:p>
            <a:pPr algn="ctr">
              <a:lnSpc>
                <a:spcPts val="3854"/>
              </a:lnSpc>
            </a:pPr>
            <a:r>
              <a:rPr lang="en-US" sz="2409">
                <a:solidFill>
                  <a:srgbClr val="000000"/>
                </a:solidFill>
                <a:latin typeface="Montserrat Classic"/>
              </a:rPr>
              <a:t>Written feedback revolving around </a:t>
            </a:r>
          </a:p>
          <a:p>
            <a:pPr algn="ctr">
              <a:lnSpc>
                <a:spcPts val="3854"/>
              </a:lnSpc>
              <a:spcBef>
                <a:spcPct val="0"/>
              </a:spcBef>
            </a:pPr>
            <a:r>
              <a:rPr lang="en-US" sz="2409">
                <a:solidFill>
                  <a:srgbClr val="000000"/>
                </a:solidFill>
                <a:latin typeface="Montserrat Classic"/>
              </a:rPr>
              <a:t>product quality and price points 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964446" y="5436205"/>
            <a:ext cx="6359109" cy="2086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19"/>
              </a:lnSpc>
            </a:pPr>
            <a:r>
              <a:rPr lang="en-US" sz="3199">
                <a:solidFill>
                  <a:srgbClr val="B24A3B"/>
                </a:solidFill>
                <a:latin typeface="Montserrat Classic Bold"/>
              </a:rPr>
              <a:t>Video Review</a:t>
            </a:r>
          </a:p>
          <a:p>
            <a:pPr algn="ctr">
              <a:lnSpc>
                <a:spcPts val="384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Montserrat Classic"/>
              </a:rPr>
              <a:t>Recorded reactions enabling potential buyers to enjoy the feel of the product &amp; make right decisions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413206" y="8242193"/>
            <a:ext cx="6846094" cy="2041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15"/>
              </a:lnSpc>
            </a:pPr>
            <a:r>
              <a:rPr lang="en-US" sz="3134">
                <a:solidFill>
                  <a:srgbClr val="B24A3B"/>
                </a:solidFill>
                <a:latin typeface="Montserrat Classic Bold"/>
              </a:rPr>
              <a:t>Celebrity Recommendation</a:t>
            </a:r>
          </a:p>
          <a:p>
            <a:pPr algn="ctr">
              <a:lnSpc>
                <a:spcPts val="3761"/>
              </a:lnSpc>
            </a:pPr>
            <a:r>
              <a:rPr lang="en-US" sz="2350">
                <a:solidFill>
                  <a:srgbClr val="000000"/>
                </a:solidFill>
                <a:latin typeface="Montserrat Classic"/>
              </a:rPr>
              <a:t>Endorsements made by influencers providing </a:t>
            </a:r>
          </a:p>
          <a:p>
            <a:pPr algn="ctr">
              <a:lnSpc>
                <a:spcPts val="3761"/>
              </a:lnSpc>
            </a:pPr>
            <a:r>
              <a:rPr lang="en-US" sz="2350">
                <a:solidFill>
                  <a:srgbClr val="000000"/>
                </a:solidFill>
                <a:latin typeface="Montserrat Classic"/>
              </a:rPr>
              <a:t>product's credibility and brand's visibility.</a:t>
            </a:r>
          </a:p>
          <a:p>
            <a:pPr algn="ctr">
              <a:lnSpc>
                <a:spcPts val="3761"/>
              </a:lnSpc>
              <a:spcBef>
                <a:spcPct val="0"/>
              </a:spcBef>
            </a:pPr>
            <a:endParaRPr lang="en-US" sz="2350">
              <a:solidFill>
                <a:srgbClr val="000000"/>
              </a:solidFill>
              <a:latin typeface="Montserrat Classic"/>
            </a:endParaRP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A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821824" y="2175298"/>
            <a:ext cx="5437476" cy="5936405"/>
          </a:xfrm>
          <a:custGeom>
            <a:avLst/>
            <a:gdLst/>
            <a:ahLst/>
            <a:cxnLst/>
            <a:rect l="l" t="t" r="r" b="b"/>
            <a:pathLst>
              <a:path w="5437476" h="5936405">
                <a:moveTo>
                  <a:pt x="0" y="0"/>
                </a:moveTo>
                <a:lnTo>
                  <a:pt x="5437476" y="0"/>
                </a:lnTo>
                <a:lnTo>
                  <a:pt x="5437476" y="5936404"/>
                </a:lnTo>
                <a:lnTo>
                  <a:pt x="0" y="59364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1607188"/>
            <a:ext cx="10471944" cy="8415635"/>
          </a:xfrm>
          <a:custGeom>
            <a:avLst/>
            <a:gdLst/>
            <a:ahLst/>
            <a:cxnLst/>
            <a:rect l="l" t="t" r="r" b="b"/>
            <a:pathLst>
              <a:path w="10471944" h="8415635">
                <a:moveTo>
                  <a:pt x="0" y="0"/>
                </a:moveTo>
                <a:lnTo>
                  <a:pt x="10471944" y="0"/>
                </a:lnTo>
                <a:lnTo>
                  <a:pt x="10471944" y="8415634"/>
                </a:lnTo>
                <a:lnTo>
                  <a:pt x="0" y="84156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175961" y="-49780"/>
            <a:ext cx="6534150" cy="1452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159"/>
              </a:lnSpc>
              <a:spcBef>
                <a:spcPct val="0"/>
              </a:spcBef>
            </a:pPr>
            <a:r>
              <a:rPr lang="en-US" sz="7599">
                <a:solidFill>
                  <a:srgbClr val="000000"/>
                </a:solidFill>
                <a:latin typeface="Montserrat Classic Bold"/>
              </a:rPr>
              <a:t>Methodology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476216" y="2127837"/>
            <a:ext cx="7150178" cy="10679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87"/>
              </a:lnSpc>
            </a:pPr>
            <a:r>
              <a:rPr lang="en-US" sz="5679">
                <a:solidFill>
                  <a:srgbClr val="000000"/>
                </a:solidFill>
                <a:latin typeface="Montserrat Classic Bold"/>
              </a:rPr>
              <a:t>Data Preprocessing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4940" y="5143500"/>
            <a:ext cx="10471944" cy="10164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87"/>
              </a:lnSpc>
            </a:pPr>
            <a:r>
              <a:rPr lang="en-US" sz="5679" dirty="0">
                <a:solidFill>
                  <a:srgbClr val="000000"/>
                </a:solidFill>
                <a:latin typeface="Montserrat Classic Bold"/>
              </a:rPr>
              <a:t>Statistical Analysis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392499" y="8231705"/>
            <a:ext cx="4772978" cy="1073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87"/>
              </a:lnSpc>
            </a:pPr>
            <a:r>
              <a:rPr lang="en-US" sz="5679">
                <a:solidFill>
                  <a:srgbClr val="000000"/>
                </a:solidFill>
                <a:latin typeface="Montserrat Classic Bold"/>
              </a:rPr>
              <a:t>Visualisation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A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590174" y="2993708"/>
            <a:ext cx="12378220" cy="5152434"/>
          </a:xfrm>
          <a:custGeom>
            <a:avLst/>
            <a:gdLst/>
            <a:ahLst/>
            <a:cxnLst/>
            <a:rect l="l" t="t" r="r" b="b"/>
            <a:pathLst>
              <a:path w="12378220" h="5152434">
                <a:moveTo>
                  <a:pt x="0" y="0"/>
                </a:moveTo>
                <a:lnTo>
                  <a:pt x="12378221" y="0"/>
                </a:lnTo>
                <a:lnTo>
                  <a:pt x="12378221" y="5152434"/>
                </a:lnTo>
                <a:lnTo>
                  <a:pt x="0" y="51524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-1447800" y="-345837"/>
            <a:ext cx="17937242" cy="15644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012"/>
              </a:lnSpc>
              <a:spcBef>
                <a:spcPct val="0"/>
              </a:spcBef>
            </a:pPr>
            <a:r>
              <a:rPr lang="en-US" sz="8757" dirty="0">
                <a:solidFill>
                  <a:srgbClr val="000000"/>
                </a:solidFill>
                <a:latin typeface="Montserrat Classic Bold"/>
              </a:rPr>
              <a:t>Handling the data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1087" y="1803718"/>
            <a:ext cx="5488543" cy="1189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oming Soon"/>
              </a:rPr>
              <a:t>Segregated the data points </a:t>
            </a:r>
          </a:p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oming Soon"/>
              </a:rPr>
              <a:t>under the right variables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631523" y="8980895"/>
            <a:ext cx="6910388" cy="1215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4"/>
              </a:lnSpc>
            </a:pPr>
            <a:r>
              <a:rPr lang="en-US" sz="3532">
                <a:solidFill>
                  <a:srgbClr val="000000"/>
                </a:solidFill>
                <a:latin typeface="Coming Soon"/>
              </a:rPr>
              <a:t>Classified each session under the </a:t>
            </a:r>
          </a:p>
          <a:p>
            <a:pPr algn="ctr">
              <a:lnSpc>
                <a:spcPts val="4944"/>
              </a:lnSpc>
            </a:pPr>
            <a:r>
              <a:rPr lang="en-US" sz="3532">
                <a:solidFill>
                  <a:srgbClr val="000000"/>
                </a:solidFill>
                <a:latin typeface="Coming Soon"/>
              </a:rPr>
              <a:t>correct review code and category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789133" y="1823404"/>
            <a:ext cx="7043381" cy="1189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oming Soon"/>
              </a:rPr>
              <a:t>Grouped the data points based on 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oming Soon"/>
              </a:rPr>
              <a:t>each review category and product id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966610" y="8971370"/>
            <a:ext cx="7048500" cy="1189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oming Soon"/>
              </a:rPr>
              <a:t>Aggregated the count of session ids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oming Soon"/>
              </a:rPr>
              <a:t>and performed hypothesis testing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1087" y="1253175"/>
            <a:ext cx="5488543" cy="646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>
                <a:solidFill>
                  <a:srgbClr val="000000"/>
                </a:solidFill>
                <a:latin typeface="Canva Sans Bold"/>
              </a:rPr>
              <a:t>Data Cleaning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655457" y="8235542"/>
            <a:ext cx="5488543" cy="646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>
                <a:solidFill>
                  <a:srgbClr val="000000"/>
                </a:solidFill>
                <a:latin typeface="Canva Sans Bold"/>
              </a:rPr>
              <a:t>Data Transformation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336244" y="1253175"/>
            <a:ext cx="5488543" cy="646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>
                <a:solidFill>
                  <a:srgbClr val="000000"/>
                </a:solidFill>
                <a:latin typeface="Canva Sans Bold"/>
              </a:rPr>
              <a:t>Data Aggregation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880230" y="8235542"/>
            <a:ext cx="5488543" cy="646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>
                <a:solidFill>
                  <a:srgbClr val="000000"/>
                </a:solidFill>
                <a:latin typeface="Canva Sans Bold"/>
              </a:rPr>
              <a:t>Data Analysis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6595" y="1349375"/>
            <a:ext cx="2784283" cy="8937625"/>
            <a:chOff x="0" y="0"/>
            <a:chExt cx="3712378" cy="11916833"/>
          </a:xfrm>
        </p:grpSpPr>
        <p:sp>
          <p:nvSpPr>
            <p:cNvPr id="3" name="Freeform 3"/>
            <p:cNvSpPr/>
            <p:nvPr/>
          </p:nvSpPr>
          <p:spPr>
            <a:xfrm>
              <a:off x="0" y="6076064"/>
              <a:ext cx="3712378" cy="5840770"/>
            </a:xfrm>
            <a:custGeom>
              <a:avLst/>
              <a:gdLst/>
              <a:ahLst/>
              <a:cxnLst/>
              <a:rect l="l" t="t" r="r" b="b"/>
              <a:pathLst>
                <a:path w="3712378" h="5840770">
                  <a:moveTo>
                    <a:pt x="0" y="0"/>
                  </a:moveTo>
                  <a:lnTo>
                    <a:pt x="3712378" y="0"/>
                  </a:lnTo>
                  <a:lnTo>
                    <a:pt x="3712378" y="5840769"/>
                  </a:lnTo>
                  <a:lnTo>
                    <a:pt x="0" y="5840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540933" y="0"/>
              <a:ext cx="1079790" cy="1698859"/>
            </a:xfrm>
            <a:custGeom>
              <a:avLst/>
              <a:gdLst/>
              <a:ahLst/>
              <a:cxnLst/>
              <a:rect l="l" t="t" r="r" b="b"/>
              <a:pathLst>
                <a:path w="1079790" h="1698859">
                  <a:moveTo>
                    <a:pt x="0" y="0"/>
                  </a:moveTo>
                  <a:lnTo>
                    <a:pt x="1079790" y="0"/>
                  </a:lnTo>
                  <a:lnTo>
                    <a:pt x="1079790" y="1698859"/>
                  </a:lnTo>
                  <a:lnTo>
                    <a:pt x="0" y="16988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3374040" y="2203993"/>
            <a:ext cx="14761560" cy="7822057"/>
            <a:chOff x="0" y="-57150"/>
            <a:chExt cx="19682080" cy="10429411"/>
          </a:xfrm>
        </p:grpSpPr>
        <p:sp>
          <p:nvSpPr>
            <p:cNvPr id="6" name="TextBox 6"/>
            <p:cNvSpPr txBox="1"/>
            <p:nvPr/>
          </p:nvSpPr>
          <p:spPr>
            <a:xfrm>
              <a:off x="2322052" y="9766285"/>
              <a:ext cx="5094496" cy="59349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941"/>
                </a:lnSpc>
              </a:pPr>
              <a:r>
                <a:rPr lang="en-US" sz="2815" u="none" dirty="0">
                  <a:solidFill>
                    <a:srgbClr val="222222"/>
                  </a:solidFill>
                  <a:latin typeface="Montserrat Classic Bold"/>
                </a:rPr>
                <a:t>Customer Review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876" y="9778765"/>
              <a:ext cx="4229973" cy="59349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941"/>
                </a:lnSpc>
              </a:pPr>
              <a:r>
                <a:rPr lang="en-US" sz="2815" u="none" dirty="0">
                  <a:solidFill>
                    <a:srgbClr val="222222"/>
                  </a:solidFill>
                  <a:latin typeface="Montserrat Classic Bold"/>
                </a:rPr>
                <a:t>Video Review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759284" y="9766284"/>
              <a:ext cx="7922796" cy="59349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941"/>
                </a:lnSpc>
              </a:pPr>
              <a:r>
                <a:rPr lang="en-US" sz="2815" u="none" dirty="0">
                  <a:solidFill>
                    <a:srgbClr val="222222"/>
                  </a:solidFill>
                  <a:latin typeface="Montserrat Classic Bold"/>
                </a:rPr>
                <a:t>Celebrity Recommendation</a:t>
              </a:r>
            </a:p>
          </p:txBody>
        </p:sp>
        <p:grpSp>
          <p:nvGrpSpPr>
            <p:cNvPr id="9" name="Group 9"/>
            <p:cNvGrpSpPr>
              <a:grpSpLocks noChangeAspect="1"/>
            </p:cNvGrpSpPr>
            <p:nvPr/>
          </p:nvGrpSpPr>
          <p:grpSpPr>
            <a:xfrm>
              <a:off x="2088057" y="285136"/>
              <a:ext cx="15407683" cy="9299927"/>
              <a:chOff x="0" y="0"/>
              <a:chExt cx="13229003" cy="7984897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-6350"/>
                <a:ext cx="13229003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13229003" h="12700">
                    <a:moveTo>
                      <a:pt x="0" y="0"/>
                    </a:moveTo>
                    <a:lnTo>
                      <a:pt x="13229003" y="0"/>
                    </a:lnTo>
                    <a:lnTo>
                      <a:pt x="13229003" y="12700"/>
                    </a:lnTo>
                    <a:lnTo>
                      <a:pt x="0" y="12700"/>
                    </a:lnTo>
                    <a:close/>
                  </a:path>
                </a:pathLst>
              </a:custGeom>
              <a:solidFill>
                <a:srgbClr val="222222">
                  <a:alpha val="24706"/>
                </a:srgbClr>
              </a:solidFill>
            </p:spPr>
          </p:sp>
          <p:sp>
            <p:nvSpPr>
              <p:cNvPr id="11" name="Freeform 11"/>
              <p:cNvSpPr/>
              <p:nvPr/>
            </p:nvSpPr>
            <p:spPr>
              <a:xfrm>
                <a:off x="0" y="2655282"/>
                <a:ext cx="13229003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13229003" h="12700">
                    <a:moveTo>
                      <a:pt x="0" y="0"/>
                    </a:moveTo>
                    <a:lnTo>
                      <a:pt x="13229003" y="0"/>
                    </a:lnTo>
                    <a:lnTo>
                      <a:pt x="13229003" y="12700"/>
                    </a:lnTo>
                    <a:lnTo>
                      <a:pt x="0" y="12700"/>
                    </a:lnTo>
                    <a:close/>
                  </a:path>
                </a:pathLst>
              </a:custGeom>
              <a:solidFill>
                <a:srgbClr val="222222">
                  <a:alpha val="24706"/>
                </a:srgbClr>
              </a:solidFill>
            </p:spPr>
          </p:sp>
          <p:sp>
            <p:nvSpPr>
              <p:cNvPr id="12" name="Freeform 12"/>
              <p:cNvSpPr/>
              <p:nvPr/>
            </p:nvSpPr>
            <p:spPr>
              <a:xfrm>
                <a:off x="0" y="5316914"/>
                <a:ext cx="13229003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13229003" h="12700">
                    <a:moveTo>
                      <a:pt x="0" y="0"/>
                    </a:moveTo>
                    <a:lnTo>
                      <a:pt x="13229003" y="0"/>
                    </a:lnTo>
                    <a:lnTo>
                      <a:pt x="13229003" y="12700"/>
                    </a:lnTo>
                    <a:lnTo>
                      <a:pt x="0" y="12700"/>
                    </a:lnTo>
                    <a:close/>
                  </a:path>
                </a:pathLst>
              </a:custGeom>
              <a:solidFill>
                <a:srgbClr val="222222">
                  <a:alpha val="24706"/>
                </a:srgbClr>
              </a:solidFill>
            </p:spPr>
          </p:sp>
          <p:sp>
            <p:nvSpPr>
              <p:cNvPr id="13" name="Freeform 13"/>
              <p:cNvSpPr/>
              <p:nvPr/>
            </p:nvSpPr>
            <p:spPr>
              <a:xfrm>
                <a:off x="0" y="7978546"/>
                <a:ext cx="13229003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13229003" h="12700">
                    <a:moveTo>
                      <a:pt x="0" y="0"/>
                    </a:moveTo>
                    <a:lnTo>
                      <a:pt x="13229003" y="0"/>
                    </a:lnTo>
                    <a:lnTo>
                      <a:pt x="13229003" y="12700"/>
                    </a:lnTo>
                    <a:lnTo>
                      <a:pt x="0" y="12700"/>
                    </a:lnTo>
                    <a:close/>
                  </a:path>
                </a:pathLst>
              </a:custGeom>
              <a:solidFill>
                <a:srgbClr val="222222">
                  <a:alpha val="60000"/>
                </a:srgbClr>
              </a:solidFill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51955" y="-57150"/>
              <a:ext cx="1797729" cy="6274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3941"/>
                </a:lnSpc>
              </a:pPr>
              <a:r>
                <a:rPr lang="en-US" sz="2815" u="none">
                  <a:solidFill>
                    <a:srgbClr val="222222"/>
                  </a:solidFill>
                  <a:latin typeface="Montserrat Classic Bold"/>
                </a:rPr>
                <a:t>75,000 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3042826"/>
              <a:ext cx="1849684" cy="6274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3941"/>
                </a:lnSpc>
              </a:pPr>
              <a:r>
                <a:rPr lang="en-US" sz="2815" u="none">
                  <a:solidFill>
                    <a:srgbClr val="222222"/>
                  </a:solidFill>
                  <a:latin typeface="Montserrat Classic Bold"/>
                </a:rPr>
                <a:t>50,000 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9182" y="6142801"/>
              <a:ext cx="1800502" cy="6274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3941"/>
                </a:lnSpc>
              </a:pPr>
              <a:r>
                <a:rPr lang="en-US" sz="2815" u="none">
                  <a:solidFill>
                    <a:srgbClr val="222222"/>
                  </a:solidFill>
                  <a:latin typeface="Montserrat Classic Bold"/>
                </a:rPr>
                <a:t>25,000 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03719" y="9242777"/>
              <a:ext cx="445965" cy="6274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3941"/>
                </a:lnSpc>
              </a:pPr>
              <a:r>
                <a:rPr lang="en-US" sz="2815" u="none">
                  <a:solidFill>
                    <a:srgbClr val="222222"/>
                  </a:solidFill>
                  <a:latin typeface="Montserrat Classic Bold"/>
                </a:rPr>
                <a:t>0 </a:t>
              </a:r>
            </a:p>
          </p:txBody>
        </p:sp>
        <p:grpSp>
          <p:nvGrpSpPr>
            <p:cNvPr id="18" name="Group 18"/>
            <p:cNvGrpSpPr>
              <a:grpSpLocks noChangeAspect="1"/>
            </p:cNvGrpSpPr>
            <p:nvPr/>
          </p:nvGrpSpPr>
          <p:grpSpPr>
            <a:xfrm>
              <a:off x="2088057" y="1136557"/>
              <a:ext cx="15407683" cy="8448505"/>
              <a:chOff x="0" y="731029"/>
              <a:chExt cx="13229003" cy="7253868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731029"/>
                <a:ext cx="4078942" cy="7253868"/>
              </a:xfrm>
              <a:custGeom>
                <a:avLst/>
                <a:gdLst/>
                <a:ahLst/>
                <a:cxnLst/>
                <a:rect l="l" t="t" r="r" b="b"/>
                <a:pathLst>
                  <a:path w="4078942" h="7253868">
                    <a:moveTo>
                      <a:pt x="0" y="7253867"/>
                    </a:moveTo>
                    <a:lnTo>
                      <a:pt x="0" y="469078"/>
                    </a:lnTo>
                    <a:cubicBezTo>
                      <a:pt x="0" y="210013"/>
                      <a:pt x="210014" y="0"/>
                      <a:pt x="469078" y="0"/>
                    </a:cubicBezTo>
                    <a:lnTo>
                      <a:pt x="3609864" y="0"/>
                    </a:lnTo>
                    <a:cubicBezTo>
                      <a:pt x="3868929" y="0"/>
                      <a:pt x="4078942" y="210013"/>
                      <a:pt x="4078942" y="469078"/>
                    </a:cubicBezTo>
                    <a:lnTo>
                      <a:pt x="4078942" y="7253867"/>
                    </a:lnTo>
                    <a:close/>
                  </a:path>
                </a:pathLst>
              </a:custGeom>
              <a:solidFill>
                <a:srgbClr val="0CC0DF"/>
              </a:solidFill>
            </p:spPr>
          </p:sp>
          <p:sp>
            <p:nvSpPr>
              <p:cNvPr id="20" name="Freeform 20"/>
              <p:cNvSpPr/>
              <p:nvPr/>
            </p:nvSpPr>
            <p:spPr>
              <a:xfrm>
                <a:off x="4575030" y="3509773"/>
                <a:ext cx="4078942" cy="4475124"/>
              </a:xfrm>
              <a:custGeom>
                <a:avLst/>
                <a:gdLst/>
                <a:ahLst/>
                <a:cxnLst/>
                <a:rect l="l" t="t" r="r" b="b"/>
                <a:pathLst>
                  <a:path w="4078942" h="4475124">
                    <a:moveTo>
                      <a:pt x="0" y="4475123"/>
                    </a:moveTo>
                    <a:lnTo>
                      <a:pt x="0" y="469078"/>
                    </a:lnTo>
                    <a:cubicBezTo>
                      <a:pt x="0" y="210013"/>
                      <a:pt x="210014" y="0"/>
                      <a:pt x="469078" y="0"/>
                    </a:cubicBezTo>
                    <a:lnTo>
                      <a:pt x="3609864" y="0"/>
                    </a:lnTo>
                    <a:cubicBezTo>
                      <a:pt x="3868929" y="0"/>
                      <a:pt x="4078943" y="210013"/>
                      <a:pt x="4078943" y="469078"/>
                    </a:cubicBezTo>
                    <a:lnTo>
                      <a:pt x="4078943" y="4475123"/>
                    </a:lnTo>
                    <a:close/>
                  </a:path>
                </a:pathLst>
              </a:custGeom>
              <a:solidFill>
                <a:srgbClr val="0CC0DF"/>
              </a:solidFill>
            </p:spPr>
          </p:sp>
          <p:sp>
            <p:nvSpPr>
              <p:cNvPr id="21" name="Freeform 21"/>
              <p:cNvSpPr/>
              <p:nvPr/>
            </p:nvSpPr>
            <p:spPr>
              <a:xfrm>
                <a:off x="9150060" y="5040956"/>
                <a:ext cx="4078943" cy="2943940"/>
              </a:xfrm>
              <a:custGeom>
                <a:avLst/>
                <a:gdLst/>
                <a:ahLst/>
                <a:cxnLst/>
                <a:rect l="l" t="t" r="r" b="b"/>
                <a:pathLst>
                  <a:path w="4078943" h="2943940">
                    <a:moveTo>
                      <a:pt x="0" y="2943940"/>
                    </a:moveTo>
                    <a:lnTo>
                      <a:pt x="0" y="469079"/>
                    </a:lnTo>
                    <a:cubicBezTo>
                      <a:pt x="0" y="210014"/>
                      <a:pt x="210014" y="0"/>
                      <a:pt x="469078" y="0"/>
                    </a:cubicBezTo>
                    <a:lnTo>
                      <a:pt x="3609864" y="0"/>
                    </a:lnTo>
                    <a:cubicBezTo>
                      <a:pt x="3734271" y="0"/>
                      <a:pt x="3853583" y="49420"/>
                      <a:pt x="3941553" y="137390"/>
                    </a:cubicBezTo>
                    <a:cubicBezTo>
                      <a:pt x="4029523" y="225359"/>
                      <a:pt x="4078943" y="344671"/>
                      <a:pt x="4078943" y="469079"/>
                    </a:cubicBezTo>
                    <a:lnTo>
                      <a:pt x="4078943" y="2943940"/>
                    </a:lnTo>
                    <a:close/>
                  </a:path>
                </a:pathLst>
              </a:custGeom>
              <a:solidFill>
                <a:srgbClr val="0CC0DF"/>
              </a:solidFill>
            </p:spPr>
          </p:sp>
        </p:grpSp>
      </p:grpSp>
      <p:sp>
        <p:nvSpPr>
          <p:cNvPr id="22" name="Freeform 22"/>
          <p:cNvSpPr/>
          <p:nvPr/>
        </p:nvSpPr>
        <p:spPr>
          <a:xfrm rot="-1475085" flipH="1">
            <a:off x="7752251" y="-247954"/>
            <a:ext cx="7946098" cy="7518995"/>
          </a:xfrm>
          <a:custGeom>
            <a:avLst/>
            <a:gdLst/>
            <a:ahLst/>
            <a:cxnLst/>
            <a:rect l="l" t="t" r="r" b="b"/>
            <a:pathLst>
              <a:path w="7946098" h="7518995">
                <a:moveTo>
                  <a:pt x="7946098" y="0"/>
                </a:moveTo>
                <a:lnTo>
                  <a:pt x="0" y="0"/>
                </a:lnTo>
                <a:lnTo>
                  <a:pt x="0" y="7518995"/>
                </a:lnTo>
                <a:lnTo>
                  <a:pt x="7946098" y="7518995"/>
                </a:lnTo>
                <a:lnTo>
                  <a:pt x="794609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0" y="128148"/>
            <a:ext cx="18288000" cy="1194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79"/>
              </a:lnSpc>
              <a:spcBef>
                <a:spcPct val="0"/>
              </a:spcBef>
            </a:pPr>
            <a:r>
              <a:rPr lang="en-US" sz="6299">
                <a:solidFill>
                  <a:srgbClr val="000000"/>
                </a:solidFill>
                <a:latin typeface="Montserrat Classic Bold"/>
              </a:rPr>
              <a:t>Sessionwise Distribution of Reviews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139238" y="4427218"/>
            <a:ext cx="9525" cy="1194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79"/>
              </a:lnSpc>
              <a:spcBef>
                <a:spcPct val="0"/>
              </a:spcBef>
            </a:pPr>
            <a:endParaRPr/>
          </a:p>
        </p:txBody>
      </p:sp>
      <p:sp>
        <p:nvSpPr>
          <p:cNvPr id="25" name="TextBox 25"/>
          <p:cNvSpPr txBox="1"/>
          <p:nvPr/>
        </p:nvSpPr>
        <p:spPr>
          <a:xfrm>
            <a:off x="5590890" y="5653323"/>
            <a:ext cx="2562510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dirty="0">
                <a:solidFill>
                  <a:srgbClr val="000000"/>
                </a:solidFill>
                <a:latin typeface="Canva Sans Bold"/>
              </a:rPr>
              <a:t>68,074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686831" y="7051357"/>
            <a:ext cx="2319956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Canva Sans Bold"/>
              </a:rPr>
              <a:t>41,974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806773" y="7843202"/>
            <a:ext cx="2294366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Canva Sans Bold"/>
              </a:rPr>
              <a:t>27,592</a:t>
            </a: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36148" y="1250960"/>
            <a:ext cx="6525179" cy="3928954"/>
          </a:xfrm>
          <a:custGeom>
            <a:avLst/>
            <a:gdLst/>
            <a:ahLst/>
            <a:cxnLst/>
            <a:rect l="l" t="t" r="r" b="b"/>
            <a:pathLst>
              <a:path w="6525179" h="3928954">
                <a:moveTo>
                  <a:pt x="0" y="0"/>
                </a:moveTo>
                <a:lnTo>
                  <a:pt x="6525179" y="0"/>
                </a:lnTo>
                <a:lnTo>
                  <a:pt x="6525179" y="3928954"/>
                </a:lnTo>
                <a:lnTo>
                  <a:pt x="0" y="39289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314528" y="1250960"/>
            <a:ext cx="6525179" cy="3928954"/>
          </a:xfrm>
          <a:custGeom>
            <a:avLst/>
            <a:gdLst/>
            <a:ahLst/>
            <a:cxnLst/>
            <a:rect l="l" t="t" r="r" b="b"/>
            <a:pathLst>
              <a:path w="6525179" h="3928954">
                <a:moveTo>
                  <a:pt x="0" y="0"/>
                </a:moveTo>
                <a:lnTo>
                  <a:pt x="6525179" y="0"/>
                </a:lnTo>
                <a:lnTo>
                  <a:pt x="6525179" y="3928954"/>
                </a:lnTo>
                <a:lnTo>
                  <a:pt x="0" y="39289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3520581" y="8080275"/>
            <a:ext cx="1529183" cy="462578"/>
          </a:xfrm>
          <a:custGeom>
            <a:avLst/>
            <a:gdLst/>
            <a:ahLst/>
            <a:cxnLst/>
            <a:rect l="l" t="t" r="r" b="b"/>
            <a:pathLst>
              <a:path w="1529183" h="462578">
                <a:moveTo>
                  <a:pt x="0" y="0"/>
                </a:moveTo>
                <a:lnTo>
                  <a:pt x="1529183" y="0"/>
                </a:lnTo>
                <a:lnTo>
                  <a:pt x="1529183" y="462578"/>
                </a:lnTo>
                <a:lnTo>
                  <a:pt x="0" y="4625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284325" y="5910214"/>
            <a:ext cx="6555382" cy="3947140"/>
          </a:xfrm>
          <a:custGeom>
            <a:avLst/>
            <a:gdLst/>
            <a:ahLst/>
            <a:cxnLst/>
            <a:rect l="l" t="t" r="r" b="b"/>
            <a:pathLst>
              <a:path w="6555382" h="3947140">
                <a:moveTo>
                  <a:pt x="0" y="0"/>
                </a:moveTo>
                <a:lnTo>
                  <a:pt x="6555382" y="0"/>
                </a:lnTo>
                <a:lnTo>
                  <a:pt x="6555382" y="3947140"/>
                </a:lnTo>
                <a:lnTo>
                  <a:pt x="0" y="39471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36148" y="5910214"/>
            <a:ext cx="6562541" cy="3951450"/>
          </a:xfrm>
          <a:custGeom>
            <a:avLst/>
            <a:gdLst/>
            <a:ahLst/>
            <a:cxnLst/>
            <a:rect l="l" t="t" r="r" b="b"/>
            <a:pathLst>
              <a:path w="6562541" h="3951450">
                <a:moveTo>
                  <a:pt x="0" y="0"/>
                </a:moveTo>
                <a:lnTo>
                  <a:pt x="6562541" y="0"/>
                </a:lnTo>
                <a:lnTo>
                  <a:pt x="6562541" y="3951450"/>
                </a:lnTo>
                <a:lnTo>
                  <a:pt x="0" y="39514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10687304">
            <a:off x="8257947" y="2501777"/>
            <a:ext cx="859960" cy="1427320"/>
          </a:xfrm>
          <a:custGeom>
            <a:avLst/>
            <a:gdLst/>
            <a:ahLst/>
            <a:cxnLst/>
            <a:rect l="l" t="t" r="r" b="b"/>
            <a:pathLst>
              <a:path w="859960" h="1427320">
                <a:moveTo>
                  <a:pt x="0" y="0"/>
                </a:moveTo>
                <a:lnTo>
                  <a:pt x="859961" y="0"/>
                </a:lnTo>
                <a:lnTo>
                  <a:pt x="859961" y="1427321"/>
                </a:lnTo>
                <a:lnTo>
                  <a:pt x="0" y="142732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-1066800" y="-138729"/>
            <a:ext cx="18971052" cy="11281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079"/>
              </a:lnSpc>
              <a:spcBef>
                <a:spcPct val="0"/>
              </a:spcBef>
            </a:pPr>
            <a:r>
              <a:rPr lang="en-US" sz="6299" dirty="0" err="1">
                <a:solidFill>
                  <a:srgbClr val="000000"/>
                </a:solidFill>
                <a:latin typeface="Montserrat Classic Bold"/>
              </a:rPr>
              <a:t>Productwise</a:t>
            </a:r>
            <a:r>
              <a:rPr lang="en-US" sz="6299" dirty="0">
                <a:solidFill>
                  <a:srgbClr val="000000"/>
                </a:solidFill>
                <a:latin typeface="Montserrat Classic Bold"/>
              </a:rPr>
              <a:t> Distribution of  Reviews</a:t>
            </a:r>
          </a:p>
        </p:txBody>
      </p:sp>
      <p:sp>
        <p:nvSpPr>
          <p:cNvPr id="9" name="Freeform 9"/>
          <p:cNvSpPr/>
          <p:nvPr/>
        </p:nvSpPr>
        <p:spPr>
          <a:xfrm rot="-86672">
            <a:off x="8252642" y="6833313"/>
            <a:ext cx="859960" cy="1427320"/>
          </a:xfrm>
          <a:custGeom>
            <a:avLst/>
            <a:gdLst/>
            <a:ahLst/>
            <a:cxnLst/>
            <a:rect l="l" t="t" r="r" b="b"/>
            <a:pathLst>
              <a:path w="859960" h="1427320">
                <a:moveTo>
                  <a:pt x="0" y="0"/>
                </a:moveTo>
                <a:lnTo>
                  <a:pt x="859960" y="0"/>
                </a:lnTo>
                <a:lnTo>
                  <a:pt x="859960" y="1427320"/>
                </a:lnTo>
                <a:lnTo>
                  <a:pt x="0" y="14273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21238" y="2691816"/>
            <a:ext cx="3321513" cy="1660757"/>
            <a:chOff x="0" y="0"/>
            <a:chExt cx="4428684" cy="2214342"/>
          </a:xfrm>
        </p:grpSpPr>
        <p:grpSp>
          <p:nvGrpSpPr>
            <p:cNvPr id="3" name="Group 3"/>
            <p:cNvGrpSpPr>
              <a:grpSpLocks noChangeAspect="1"/>
            </p:cNvGrpSpPr>
            <p:nvPr/>
          </p:nvGrpSpPr>
          <p:grpSpPr>
            <a:xfrm>
              <a:off x="0" y="0"/>
              <a:ext cx="4428684" cy="2214342"/>
              <a:chOff x="0" y="0"/>
              <a:chExt cx="2540000" cy="12700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5667"/>
                <a:ext cx="2540000" cy="1264333"/>
              </a:xfrm>
              <a:custGeom>
                <a:avLst/>
                <a:gdLst/>
                <a:ahLst/>
                <a:cxnLst/>
                <a:rect l="l" t="t" r="r" b="b"/>
                <a:pathLst>
                  <a:path w="2540000" h="1264333">
                    <a:moveTo>
                      <a:pt x="0" y="1264333"/>
                    </a:moveTo>
                    <a:cubicBezTo>
                      <a:pt x="3127" y="565148"/>
                      <a:pt x="570808" y="0"/>
                      <a:pt x="1270000" y="0"/>
                    </a:cubicBezTo>
                    <a:cubicBezTo>
                      <a:pt x="1969192" y="0"/>
                      <a:pt x="2536873" y="565148"/>
                      <a:pt x="2540000" y="1264333"/>
                    </a:cubicBezTo>
                    <a:lnTo>
                      <a:pt x="2082800" y="1264333"/>
                    </a:lnTo>
                    <a:cubicBezTo>
                      <a:pt x="2080799" y="816855"/>
                      <a:pt x="1717483" y="455160"/>
                      <a:pt x="1270000" y="455160"/>
                    </a:cubicBezTo>
                    <a:cubicBezTo>
                      <a:pt x="822517" y="455160"/>
                      <a:pt x="459201" y="816855"/>
                      <a:pt x="457200" y="1264333"/>
                    </a:cubicBezTo>
                    <a:close/>
                  </a:path>
                </a:pathLst>
              </a:custGeom>
              <a:solidFill>
                <a:srgbClr val="6CE5E8"/>
              </a:solidFill>
            </p:spPr>
          </p:sp>
          <p:sp>
            <p:nvSpPr>
              <p:cNvPr id="5" name="Freeform 5"/>
              <p:cNvSpPr/>
              <p:nvPr/>
            </p:nvSpPr>
            <p:spPr>
              <a:xfrm>
                <a:off x="487030" y="419972"/>
                <a:ext cx="917242" cy="858200"/>
              </a:xfrm>
              <a:custGeom>
                <a:avLst/>
                <a:gdLst/>
                <a:ahLst/>
                <a:cxnLst/>
                <a:rect l="l" t="t" r="r" b="b"/>
                <a:pathLst>
                  <a:path w="917242" h="858200">
                    <a:moveTo>
                      <a:pt x="868981" y="629587"/>
                    </a:moveTo>
                    <a:cubicBezTo>
                      <a:pt x="902601" y="660258"/>
                      <a:pt x="917241" y="706573"/>
                      <a:pt x="907358" y="750995"/>
                    </a:cubicBezTo>
                    <a:cubicBezTo>
                      <a:pt x="897474" y="795418"/>
                      <a:pt x="864577" y="831156"/>
                      <a:pt x="821124" y="844678"/>
                    </a:cubicBezTo>
                    <a:cubicBezTo>
                      <a:pt x="777671" y="858200"/>
                      <a:pt x="730304" y="847439"/>
                      <a:pt x="696959" y="816469"/>
                    </a:cubicBezTo>
                    <a:lnTo>
                      <a:pt x="9652" y="45723"/>
                    </a:lnTo>
                    <a:cubicBezTo>
                      <a:pt x="2928" y="39589"/>
                      <a:pt x="0" y="30326"/>
                      <a:pt x="1976" y="21441"/>
                    </a:cubicBezTo>
                    <a:cubicBezTo>
                      <a:pt x="3953" y="12557"/>
                      <a:pt x="10532" y="5409"/>
                      <a:pt x="19223" y="2705"/>
                    </a:cubicBezTo>
                    <a:cubicBezTo>
                      <a:pt x="27914" y="0"/>
                      <a:pt x="37387" y="2152"/>
                      <a:pt x="44056" y="8346"/>
                    </a:cubicBezTo>
                    <a:lnTo>
                      <a:pt x="868981" y="629587"/>
                    </a:lnTo>
                    <a:close/>
                  </a:path>
                </a:pathLst>
              </a:custGeom>
              <a:solidFill>
                <a:srgbClr val="494F56"/>
              </a:solidFill>
            </p:spPr>
          </p:sp>
        </p:grpSp>
      </p:grpSp>
      <p:grpSp>
        <p:nvGrpSpPr>
          <p:cNvPr id="6" name="Group 6"/>
          <p:cNvGrpSpPr/>
          <p:nvPr/>
        </p:nvGrpSpPr>
        <p:grpSpPr>
          <a:xfrm>
            <a:off x="7059736" y="2691816"/>
            <a:ext cx="3321513" cy="1660757"/>
            <a:chOff x="0" y="0"/>
            <a:chExt cx="4428684" cy="2214342"/>
          </a:xfrm>
        </p:grpSpPr>
        <p:grpSp>
          <p:nvGrpSpPr>
            <p:cNvPr id="7" name="Group 7"/>
            <p:cNvGrpSpPr>
              <a:grpSpLocks noChangeAspect="1"/>
            </p:cNvGrpSpPr>
            <p:nvPr/>
          </p:nvGrpSpPr>
          <p:grpSpPr>
            <a:xfrm>
              <a:off x="0" y="0"/>
              <a:ext cx="4428684" cy="2214342"/>
              <a:chOff x="0" y="0"/>
              <a:chExt cx="2540000" cy="12700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5667"/>
                <a:ext cx="2540000" cy="1264333"/>
              </a:xfrm>
              <a:custGeom>
                <a:avLst/>
                <a:gdLst/>
                <a:ahLst/>
                <a:cxnLst/>
                <a:rect l="l" t="t" r="r" b="b"/>
                <a:pathLst>
                  <a:path w="2540000" h="1264333">
                    <a:moveTo>
                      <a:pt x="0" y="1264333"/>
                    </a:moveTo>
                    <a:cubicBezTo>
                      <a:pt x="3127" y="565148"/>
                      <a:pt x="570808" y="0"/>
                      <a:pt x="1270000" y="0"/>
                    </a:cubicBezTo>
                    <a:cubicBezTo>
                      <a:pt x="1969192" y="0"/>
                      <a:pt x="2536873" y="565148"/>
                      <a:pt x="2540000" y="1264333"/>
                    </a:cubicBezTo>
                    <a:lnTo>
                      <a:pt x="2082800" y="1264333"/>
                    </a:lnTo>
                    <a:cubicBezTo>
                      <a:pt x="2080799" y="816855"/>
                      <a:pt x="1717483" y="455160"/>
                      <a:pt x="1270000" y="455160"/>
                    </a:cubicBezTo>
                    <a:cubicBezTo>
                      <a:pt x="822517" y="455160"/>
                      <a:pt x="459201" y="816855"/>
                      <a:pt x="457200" y="1264333"/>
                    </a:cubicBezTo>
                    <a:close/>
                  </a:path>
                </a:pathLst>
              </a:custGeom>
              <a:solidFill>
                <a:srgbClr val="6CE5E8"/>
              </a:solidFill>
            </p:spPr>
          </p:sp>
          <p:sp>
            <p:nvSpPr>
              <p:cNvPr id="9" name="Freeform 9"/>
              <p:cNvSpPr/>
              <p:nvPr/>
            </p:nvSpPr>
            <p:spPr>
              <a:xfrm>
                <a:off x="272720" y="689567"/>
                <a:ext cx="1129067" cy="588198"/>
              </a:xfrm>
              <a:custGeom>
                <a:avLst/>
                <a:gdLst/>
                <a:ahLst/>
                <a:cxnLst/>
                <a:rect l="l" t="t" r="r" b="b"/>
                <a:pathLst>
                  <a:path w="1129067" h="588198">
                    <a:moveTo>
                      <a:pt x="1048355" y="337156"/>
                    </a:moveTo>
                    <a:cubicBezTo>
                      <a:pt x="1090103" y="355271"/>
                      <a:pt x="1118966" y="394340"/>
                      <a:pt x="1124017" y="439567"/>
                    </a:cubicBezTo>
                    <a:cubicBezTo>
                      <a:pt x="1129067" y="484794"/>
                      <a:pt x="1109533" y="529267"/>
                      <a:pt x="1072809" y="556145"/>
                    </a:cubicBezTo>
                    <a:cubicBezTo>
                      <a:pt x="1036086" y="583023"/>
                      <a:pt x="987789" y="588198"/>
                      <a:pt x="946205" y="569710"/>
                    </a:cubicBezTo>
                    <a:lnTo>
                      <a:pt x="16143" y="50209"/>
                    </a:lnTo>
                    <a:cubicBezTo>
                      <a:pt x="7793" y="46585"/>
                      <a:pt x="2021" y="38772"/>
                      <a:pt x="1011" y="29726"/>
                    </a:cubicBezTo>
                    <a:cubicBezTo>
                      <a:pt x="0" y="20681"/>
                      <a:pt x="3907" y="11786"/>
                      <a:pt x="11252" y="6411"/>
                    </a:cubicBezTo>
                    <a:cubicBezTo>
                      <a:pt x="18597" y="1035"/>
                      <a:pt x="28256" y="0"/>
                      <a:pt x="36573" y="3698"/>
                    </a:cubicBezTo>
                    <a:lnTo>
                      <a:pt x="1048355" y="337156"/>
                    </a:lnTo>
                    <a:close/>
                  </a:path>
                </a:pathLst>
              </a:custGeom>
              <a:solidFill>
                <a:srgbClr val="494F56"/>
              </a:solidFill>
            </p:spPr>
          </p:sp>
        </p:grpSp>
      </p:grpSp>
      <p:grpSp>
        <p:nvGrpSpPr>
          <p:cNvPr id="10" name="Group 10"/>
          <p:cNvGrpSpPr/>
          <p:nvPr/>
        </p:nvGrpSpPr>
        <p:grpSpPr>
          <a:xfrm>
            <a:off x="13421742" y="2691816"/>
            <a:ext cx="3321513" cy="1660757"/>
            <a:chOff x="0" y="0"/>
            <a:chExt cx="4428684" cy="2214342"/>
          </a:xfrm>
        </p:grpSpPr>
        <p:grpSp>
          <p:nvGrpSpPr>
            <p:cNvPr id="11" name="Group 11"/>
            <p:cNvGrpSpPr>
              <a:grpSpLocks noChangeAspect="1"/>
            </p:cNvGrpSpPr>
            <p:nvPr/>
          </p:nvGrpSpPr>
          <p:grpSpPr>
            <a:xfrm>
              <a:off x="0" y="0"/>
              <a:ext cx="4428684" cy="2214342"/>
              <a:chOff x="0" y="0"/>
              <a:chExt cx="2540000" cy="12700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5667"/>
                <a:ext cx="2540000" cy="1264333"/>
              </a:xfrm>
              <a:custGeom>
                <a:avLst/>
                <a:gdLst/>
                <a:ahLst/>
                <a:cxnLst/>
                <a:rect l="l" t="t" r="r" b="b"/>
                <a:pathLst>
                  <a:path w="2540000" h="1264333">
                    <a:moveTo>
                      <a:pt x="0" y="1264333"/>
                    </a:moveTo>
                    <a:cubicBezTo>
                      <a:pt x="3127" y="565148"/>
                      <a:pt x="570808" y="0"/>
                      <a:pt x="1270000" y="0"/>
                    </a:cubicBezTo>
                    <a:cubicBezTo>
                      <a:pt x="1969192" y="0"/>
                      <a:pt x="2536873" y="565148"/>
                      <a:pt x="2540000" y="1264333"/>
                    </a:cubicBezTo>
                    <a:lnTo>
                      <a:pt x="2082800" y="1264333"/>
                    </a:lnTo>
                    <a:cubicBezTo>
                      <a:pt x="2080799" y="816855"/>
                      <a:pt x="1717483" y="455160"/>
                      <a:pt x="1270000" y="455160"/>
                    </a:cubicBezTo>
                    <a:cubicBezTo>
                      <a:pt x="822517" y="455160"/>
                      <a:pt x="459201" y="816855"/>
                      <a:pt x="457200" y="1264333"/>
                    </a:cubicBezTo>
                    <a:close/>
                  </a:path>
                </a:pathLst>
              </a:custGeom>
              <a:solidFill>
                <a:srgbClr val="6CE5E8"/>
              </a:solidFill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98327" y="845935"/>
                <a:ext cx="1206782" cy="431610"/>
              </a:xfrm>
              <a:custGeom>
                <a:avLst/>
                <a:gdLst/>
                <a:ahLst/>
                <a:cxnLst/>
                <a:rect l="l" t="t" r="r" b="b"/>
                <a:pathLst>
                  <a:path w="1206782" h="431610">
                    <a:moveTo>
                      <a:pt x="1103470" y="174110"/>
                    </a:moveTo>
                    <a:cubicBezTo>
                      <a:pt x="1147580" y="185307"/>
                      <a:pt x="1182327" y="219249"/>
                      <a:pt x="1194554" y="263084"/>
                    </a:cubicBezTo>
                    <a:cubicBezTo>
                      <a:pt x="1206781" y="306919"/>
                      <a:pt x="1194620" y="353946"/>
                      <a:pt x="1162675" y="386358"/>
                    </a:cubicBezTo>
                    <a:cubicBezTo>
                      <a:pt x="1130729" y="418769"/>
                      <a:pt x="1083883" y="431611"/>
                      <a:pt x="1039876" y="420020"/>
                    </a:cubicBezTo>
                    <a:lnTo>
                      <a:pt x="20662" y="51501"/>
                    </a:lnTo>
                    <a:cubicBezTo>
                      <a:pt x="11840" y="49261"/>
                      <a:pt x="4890" y="42473"/>
                      <a:pt x="2445" y="33706"/>
                    </a:cubicBezTo>
                    <a:cubicBezTo>
                      <a:pt x="0" y="24939"/>
                      <a:pt x="2432" y="15533"/>
                      <a:pt x="8821" y="9051"/>
                    </a:cubicBezTo>
                    <a:cubicBezTo>
                      <a:pt x="15210" y="2569"/>
                      <a:pt x="24579" y="0"/>
                      <a:pt x="33381" y="2319"/>
                    </a:cubicBezTo>
                    <a:lnTo>
                      <a:pt x="1103470" y="174110"/>
                    </a:lnTo>
                    <a:close/>
                  </a:path>
                </a:pathLst>
              </a:custGeom>
              <a:solidFill>
                <a:srgbClr val="494F56"/>
              </a:solidFill>
            </p:spPr>
          </p:sp>
        </p:grpSp>
      </p:grpSp>
      <p:sp>
        <p:nvSpPr>
          <p:cNvPr id="14" name="Freeform 14"/>
          <p:cNvSpPr/>
          <p:nvPr/>
        </p:nvSpPr>
        <p:spPr>
          <a:xfrm>
            <a:off x="4019244" y="854714"/>
            <a:ext cx="9402498" cy="1370377"/>
          </a:xfrm>
          <a:custGeom>
            <a:avLst/>
            <a:gdLst/>
            <a:ahLst/>
            <a:cxnLst/>
            <a:rect l="l" t="t" r="r" b="b"/>
            <a:pathLst>
              <a:path w="9402498" h="1370377">
                <a:moveTo>
                  <a:pt x="0" y="0"/>
                </a:moveTo>
                <a:lnTo>
                  <a:pt x="9402498" y="0"/>
                </a:lnTo>
                <a:lnTo>
                  <a:pt x="9402498" y="1370377"/>
                </a:lnTo>
                <a:lnTo>
                  <a:pt x="0" y="13703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2309" b="-172486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4019244" y="5653345"/>
            <a:ext cx="9402498" cy="1370377"/>
          </a:xfrm>
          <a:custGeom>
            <a:avLst/>
            <a:gdLst/>
            <a:ahLst/>
            <a:cxnLst/>
            <a:rect l="l" t="t" r="r" b="b"/>
            <a:pathLst>
              <a:path w="9402498" h="1370377">
                <a:moveTo>
                  <a:pt x="0" y="0"/>
                </a:moveTo>
                <a:lnTo>
                  <a:pt x="9402498" y="0"/>
                </a:lnTo>
                <a:lnTo>
                  <a:pt x="9402498" y="1370377"/>
                </a:lnTo>
                <a:lnTo>
                  <a:pt x="0" y="13703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2309" b="-172486"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-155293" y="6734456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4173200" y="6734456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5082498" y="8183409"/>
            <a:ext cx="855743" cy="789423"/>
          </a:xfrm>
          <a:custGeom>
            <a:avLst/>
            <a:gdLst/>
            <a:ahLst/>
            <a:cxnLst/>
            <a:rect l="l" t="t" r="r" b="b"/>
            <a:pathLst>
              <a:path w="855743" h="789423">
                <a:moveTo>
                  <a:pt x="0" y="0"/>
                </a:moveTo>
                <a:lnTo>
                  <a:pt x="855743" y="0"/>
                </a:lnTo>
                <a:lnTo>
                  <a:pt x="855743" y="789422"/>
                </a:lnTo>
                <a:lnTo>
                  <a:pt x="0" y="7894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79128" y="-161925"/>
            <a:ext cx="17386300" cy="810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79"/>
              </a:lnSpc>
              <a:spcBef>
                <a:spcPct val="0"/>
              </a:spcBef>
            </a:pPr>
            <a:r>
              <a:rPr lang="en-US" sz="4299" dirty="0">
                <a:solidFill>
                  <a:srgbClr val="000000"/>
                </a:solidFill>
                <a:latin typeface="Montserrat Classic Bold"/>
              </a:rPr>
              <a:t>Are celebrity reviews more influential than customer reviews ?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665097" y="4876766"/>
            <a:ext cx="4414361" cy="580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sz="3400">
                <a:solidFill>
                  <a:srgbClr val="000000"/>
                </a:solidFill>
                <a:latin typeface="Canva Sans Bold"/>
              </a:rPr>
              <a:t>Video Reviews = 0.16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17482" y="4876766"/>
            <a:ext cx="5383768" cy="580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sz="3400">
                <a:solidFill>
                  <a:srgbClr val="000000"/>
                </a:solidFill>
                <a:latin typeface="Canva Sans Bold"/>
              </a:rPr>
              <a:t> Customer Reviews = 0.26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534382" y="4876766"/>
            <a:ext cx="5096233" cy="580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sz="3400">
                <a:solidFill>
                  <a:srgbClr val="000000"/>
                </a:solidFill>
                <a:latin typeface="Canva Sans Bold"/>
              </a:rPr>
              <a:t> Celebrity reviews = 0.11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65097" y="933450"/>
            <a:ext cx="4038376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Canva Sans Bold"/>
              </a:rPr>
              <a:t>Proportions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019244" y="5847361"/>
            <a:ext cx="9402498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Canva Sans Bold"/>
              </a:rPr>
              <a:t>Hypothesis Test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898548" y="7547597"/>
            <a:ext cx="4205407" cy="2380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</a:rPr>
              <a:t>Z-score for the 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</a:rPr>
              <a:t>difference in 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</a:rPr>
              <a:t>sample proportions </a:t>
            </a:r>
          </a:p>
          <a:p>
            <a:pPr algn="ctr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Canva Sans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494848" y="7778392"/>
            <a:ext cx="2814519" cy="1194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79"/>
              </a:lnSpc>
              <a:spcBef>
                <a:spcPct val="0"/>
              </a:spcBef>
            </a:pPr>
            <a:r>
              <a:rPr lang="en-US" sz="6299">
                <a:solidFill>
                  <a:srgbClr val="000000"/>
                </a:solidFill>
                <a:latin typeface="Montserrat Classic Bold"/>
              </a:rPr>
              <a:t>-145.03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598136" y="7949842"/>
            <a:ext cx="5534739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</a:rPr>
              <a:t>Corresponding right-tailed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</a:rPr>
              <a:t>p-value 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6230600" y="7625677"/>
            <a:ext cx="615672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000000"/>
                </a:solidFill>
                <a:latin typeface="Canva Sans Bold"/>
              </a:rPr>
              <a:t>1</a:t>
            </a: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52400" y="5833485"/>
            <a:ext cx="2784284" cy="4380578"/>
          </a:xfrm>
          <a:custGeom>
            <a:avLst/>
            <a:gdLst/>
            <a:ahLst/>
            <a:cxnLst/>
            <a:rect l="l" t="t" r="r" b="b"/>
            <a:pathLst>
              <a:path w="3712378" h="5840770">
                <a:moveTo>
                  <a:pt x="0" y="0"/>
                </a:moveTo>
                <a:lnTo>
                  <a:pt x="3712378" y="0"/>
                </a:lnTo>
                <a:lnTo>
                  <a:pt x="3712378" y="5840770"/>
                </a:lnTo>
                <a:lnTo>
                  <a:pt x="0" y="58407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06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5968357" y="101053"/>
            <a:ext cx="2167243" cy="5974075"/>
            <a:chOff x="0" y="0"/>
            <a:chExt cx="2889658" cy="79654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89658" cy="4546365"/>
            </a:xfrm>
            <a:custGeom>
              <a:avLst/>
              <a:gdLst/>
              <a:ahLst/>
              <a:cxnLst/>
              <a:rect l="l" t="t" r="r" b="b"/>
              <a:pathLst>
                <a:path w="2889658" h="4546365">
                  <a:moveTo>
                    <a:pt x="0" y="0"/>
                  </a:moveTo>
                  <a:lnTo>
                    <a:pt x="2889658" y="0"/>
                  </a:lnTo>
                  <a:lnTo>
                    <a:pt x="2889658" y="4546365"/>
                  </a:lnTo>
                  <a:lnTo>
                    <a:pt x="0" y="4546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773143" y="6266575"/>
              <a:ext cx="1079790" cy="1698859"/>
            </a:xfrm>
            <a:custGeom>
              <a:avLst/>
              <a:gdLst/>
              <a:ahLst/>
              <a:cxnLst/>
              <a:rect l="l" t="t" r="r" b="b"/>
              <a:pathLst>
                <a:path w="1079790" h="1698859">
                  <a:moveTo>
                    <a:pt x="0" y="0"/>
                  </a:moveTo>
                  <a:lnTo>
                    <a:pt x="1079790" y="0"/>
                  </a:lnTo>
                  <a:lnTo>
                    <a:pt x="1079790" y="1698858"/>
                  </a:lnTo>
                  <a:lnTo>
                    <a:pt x="0" y="1698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028700" y="3891667"/>
            <a:ext cx="15303317" cy="2945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01"/>
              </a:lnSpc>
            </a:pPr>
            <a:r>
              <a:rPr lang="en-US" sz="7601" dirty="0">
                <a:solidFill>
                  <a:srgbClr val="222222"/>
                </a:solidFill>
                <a:latin typeface="Montserrat Classic Bold"/>
              </a:rPr>
              <a:t>Celebrity reviews do not prove to be more influential than customer reviews.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408874" y="2263226"/>
            <a:ext cx="12958458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spc="360">
                <a:solidFill>
                  <a:srgbClr val="222222"/>
                </a:solidFill>
                <a:latin typeface="Montserrat Classic"/>
              </a:rPr>
              <a:t>Since we fail to reject the null hypothesis at 5% level, the following conclusion is drawn:</a:t>
            </a: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400" y="5034580"/>
            <a:ext cx="3594126" cy="5223845"/>
            <a:chOff x="0" y="0"/>
            <a:chExt cx="4792168" cy="6965126"/>
          </a:xfrm>
        </p:grpSpPr>
        <p:sp>
          <p:nvSpPr>
            <p:cNvPr id="3" name="Freeform 3"/>
            <p:cNvSpPr/>
            <p:nvPr/>
          </p:nvSpPr>
          <p:spPr>
            <a:xfrm>
              <a:off x="0" y="1124356"/>
              <a:ext cx="3712378" cy="5840770"/>
            </a:xfrm>
            <a:custGeom>
              <a:avLst/>
              <a:gdLst/>
              <a:ahLst/>
              <a:cxnLst/>
              <a:rect l="l" t="t" r="r" b="b"/>
              <a:pathLst>
                <a:path w="3712378" h="5840770">
                  <a:moveTo>
                    <a:pt x="0" y="0"/>
                  </a:moveTo>
                  <a:lnTo>
                    <a:pt x="3712378" y="0"/>
                  </a:lnTo>
                  <a:lnTo>
                    <a:pt x="3712378" y="5840770"/>
                  </a:lnTo>
                  <a:lnTo>
                    <a:pt x="0" y="5840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3712378" y="0"/>
              <a:ext cx="1079790" cy="1698859"/>
            </a:xfrm>
            <a:custGeom>
              <a:avLst/>
              <a:gdLst/>
              <a:ahLst/>
              <a:cxnLst/>
              <a:rect l="l" t="t" r="r" b="b"/>
              <a:pathLst>
                <a:path w="1079790" h="1698859">
                  <a:moveTo>
                    <a:pt x="0" y="0"/>
                  </a:moveTo>
                  <a:lnTo>
                    <a:pt x="1079790" y="0"/>
                  </a:lnTo>
                  <a:lnTo>
                    <a:pt x="1079790" y="1698859"/>
                  </a:lnTo>
                  <a:lnTo>
                    <a:pt x="0" y="16988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16001693" y="0"/>
            <a:ext cx="2167243" cy="5974075"/>
            <a:chOff x="0" y="0"/>
            <a:chExt cx="2889658" cy="79654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89658" cy="4546365"/>
            </a:xfrm>
            <a:custGeom>
              <a:avLst/>
              <a:gdLst/>
              <a:ahLst/>
              <a:cxnLst/>
              <a:rect l="l" t="t" r="r" b="b"/>
              <a:pathLst>
                <a:path w="2889658" h="4546365">
                  <a:moveTo>
                    <a:pt x="0" y="0"/>
                  </a:moveTo>
                  <a:lnTo>
                    <a:pt x="2889658" y="0"/>
                  </a:lnTo>
                  <a:lnTo>
                    <a:pt x="2889658" y="4546365"/>
                  </a:lnTo>
                  <a:lnTo>
                    <a:pt x="0" y="4546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773143" y="6266575"/>
              <a:ext cx="1079790" cy="1698859"/>
            </a:xfrm>
            <a:custGeom>
              <a:avLst/>
              <a:gdLst/>
              <a:ahLst/>
              <a:cxnLst/>
              <a:rect l="l" t="t" r="r" b="b"/>
              <a:pathLst>
                <a:path w="1079790" h="1698859">
                  <a:moveTo>
                    <a:pt x="0" y="0"/>
                  </a:moveTo>
                  <a:lnTo>
                    <a:pt x="1079790" y="0"/>
                  </a:lnTo>
                  <a:lnTo>
                    <a:pt x="1079790" y="1698858"/>
                  </a:lnTo>
                  <a:lnTo>
                    <a:pt x="0" y="1698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492341" y="3256266"/>
            <a:ext cx="15303317" cy="3907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01"/>
              </a:lnSpc>
            </a:pPr>
            <a:r>
              <a:rPr lang="en-US" sz="7601">
                <a:solidFill>
                  <a:srgbClr val="222222"/>
                </a:solidFill>
                <a:latin typeface="Montserrat Classic Bold"/>
              </a:rPr>
              <a:t>How celebrity and customer reviews fare against video reviews ?</a:t>
            </a:r>
          </a:p>
          <a:p>
            <a:pPr algn="ctr">
              <a:lnSpc>
                <a:spcPts val="7601"/>
              </a:lnSpc>
            </a:pPr>
            <a:endParaRPr lang="en-US" sz="7601">
              <a:solidFill>
                <a:srgbClr val="222222"/>
              </a:solidFill>
              <a:latin typeface="Montserrat Classic Bold"/>
            </a:endParaRP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157258" y="748653"/>
            <a:ext cx="12347375" cy="9538347"/>
          </a:xfrm>
          <a:custGeom>
            <a:avLst/>
            <a:gdLst/>
            <a:ahLst/>
            <a:cxnLst/>
            <a:rect l="l" t="t" r="r" b="b"/>
            <a:pathLst>
              <a:path w="12347375" h="9538347">
                <a:moveTo>
                  <a:pt x="0" y="0"/>
                </a:moveTo>
                <a:lnTo>
                  <a:pt x="12347375" y="0"/>
                </a:lnTo>
                <a:lnTo>
                  <a:pt x="12347375" y="9538347"/>
                </a:lnTo>
                <a:lnTo>
                  <a:pt x="0" y="95383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071820" y="4941103"/>
            <a:ext cx="504010" cy="546700"/>
          </a:xfrm>
          <a:custGeom>
            <a:avLst/>
            <a:gdLst/>
            <a:ahLst/>
            <a:cxnLst/>
            <a:rect l="l" t="t" r="r" b="b"/>
            <a:pathLst>
              <a:path w="565744" h="521899">
                <a:moveTo>
                  <a:pt x="0" y="0"/>
                </a:moveTo>
                <a:lnTo>
                  <a:pt x="565745" y="0"/>
                </a:lnTo>
                <a:lnTo>
                  <a:pt x="565745" y="521900"/>
                </a:lnTo>
                <a:lnTo>
                  <a:pt x="0" y="5219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6665522" y="2457700"/>
            <a:ext cx="3295508" cy="1706859"/>
            <a:chOff x="0" y="0"/>
            <a:chExt cx="867953" cy="44954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67953" cy="449543"/>
            </a:xfrm>
            <a:custGeom>
              <a:avLst/>
              <a:gdLst/>
              <a:ahLst/>
              <a:cxnLst/>
              <a:rect l="l" t="t" r="r" b="b"/>
              <a:pathLst>
                <a:path w="867953" h="449543">
                  <a:moveTo>
                    <a:pt x="0" y="0"/>
                  </a:moveTo>
                  <a:lnTo>
                    <a:pt x="867953" y="0"/>
                  </a:lnTo>
                  <a:lnTo>
                    <a:pt x="867953" y="449543"/>
                  </a:lnTo>
                  <a:lnTo>
                    <a:pt x="0" y="449543"/>
                  </a:lnTo>
                  <a:close/>
                </a:path>
              </a:pathLst>
            </a:custGeom>
            <a:solidFill>
              <a:srgbClr val="E2E5EA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95250"/>
              <a:ext cx="812800" cy="908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93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665522" y="4594190"/>
            <a:ext cx="3295508" cy="923636"/>
            <a:chOff x="0" y="0"/>
            <a:chExt cx="867953" cy="24326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67953" cy="243262"/>
            </a:xfrm>
            <a:custGeom>
              <a:avLst/>
              <a:gdLst/>
              <a:ahLst/>
              <a:cxnLst/>
              <a:rect l="l" t="t" r="r" b="b"/>
              <a:pathLst>
                <a:path w="867953" h="243262">
                  <a:moveTo>
                    <a:pt x="0" y="0"/>
                  </a:moveTo>
                  <a:lnTo>
                    <a:pt x="867953" y="0"/>
                  </a:lnTo>
                  <a:lnTo>
                    <a:pt x="867953" y="243262"/>
                  </a:lnTo>
                  <a:lnTo>
                    <a:pt x="0" y="243262"/>
                  </a:lnTo>
                  <a:close/>
                </a:path>
              </a:pathLst>
            </a:custGeom>
            <a:solidFill>
              <a:srgbClr val="E2E5EA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95250"/>
              <a:ext cx="812800" cy="908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93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665522" y="7022776"/>
            <a:ext cx="3295508" cy="726101"/>
            <a:chOff x="0" y="0"/>
            <a:chExt cx="867953" cy="19123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67953" cy="191236"/>
            </a:xfrm>
            <a:custGeom>
              <a:avLst/>
              <a:gdLst/>
              <a:ahLst/>
              <a:cxnLst/>
              <a:rect l="l" t="t" r="r" b="b"/>
              <a:pathLst>
                <a:path w="867953" h="191236">
                  <a:moveTo>
                    <a:pt x="0" y="0"/>
                  </a:moveTo>
                  <a:lnTo>
                    <a:pt x="867953" y="0"/>
                  </a:lnTo>
                  <a:lnTo>
                    <a:pt x="867953" y="191236"/>
                  </a:lnTo>
                  <a:lnTo>
                    <a:pt x="0" y="191236"/>
                  </a:lnTo>
                  <a:close/>
                </a:path>
              </a:pathLst>
            </a:custGeom>
            <a:solidFill>
              <a:srgbClr val="E2E5EA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95250"/>
              <a:ext cx="812800" cy="908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93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120932" y="257480"/>
            <a:ext cx="6336268" cy="8742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dirty="0">
                <a:solidFill>
                  <a:srgbClr val="B24A3B"/>
                </a:solidFill>
                <a:latin typeface="Canva Sans Bold"/>
              </a:rPr>
              <a:t>Celebrity v/s Video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144000" y="152705"/>
            <a:ext cx="6336268" cy="983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19"/>
              </a:lnSpc>
              <a:spcBef>
                <a:spcPct val="0"/>
              </a:spcBef>
            </a:pPr>
            <a:r>
              <a:rPr lang="en-US" sz="5199">
                <a:solidFill>
                  <a:srgbClr val="B24A3B"/>
                </a:solidFill>
                <a:latin typeface="Canva Sans Bold"/>
              </a:rPr>
              <a:t>Customer v/s Video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066896" y="2940053"/>
            <a:ext cx="2745372" cy="9626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dirty="0">
                <a:solidFill>
                  <a:srgbClr val="000000"/>
                </a:solidFill>
                <a:latin typeface="Canva Sans Bold"/>
              </a:rPr>
              <a:t>-58.63</a:t>
            </a:r>
          </a:p>
        </p:txBody>
      </p:sp>
      <p:sp>
        <p:nvSpPr>
          <p:cNvPr id="16" name="TextBox 16"/>
          <p:cNvSpPr txBox="1"/>
          <p:nvPr/>
        </p:nvSpPr>
        <p:spPr>
          <a:xfrm flipH="1">
            <a:off x="5131906" y="4460840"/>
            <a:ext cx="320687" cy="1231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2"/>
              </a:lnSpc>
            </a:pPr>
            <a:r>
              <a:rPr lang="en-US" sz="7244" dirty="0">
                <a:solidFill>
                  <a:srgbClr val="000000"/>
                </a:solidFill>
                <a:latin typeface="Canva Sans Bold"/>
              </a:rPr>
              <a:t>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058586" y="4935817"/>
            <a:ext cx="4509379" cy="4548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 dirty="0">
                <a:solidFill>
                  <a:srgbClr val="000000"/>
                </a:solidFill>
                <a:latin typeface="Canva Sans Bold"/>
              </a:rPr>
              <a:t>RIGHT-TAILED P-VALUE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654903" y="2886602"/>
            <a:ext cx="1834158" cy="97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80"/>
              </a:lnSpc>
            </a:pPr>
            <a:r>
              <a:rPr lang="en-US" sz="5700">
                <a:solidFill>
                  <a:srgbClr val="000000"/>
                </a:solidFill>
                <a:latin typeface="Canva Sans Bold"/>
              </a:rPr>
              <a:t>88.71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096686" y="2578794"/>
            <a:ext cx="3960691" cy="14829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t">
            <a:spAutoFit/>
          </a:bodyPr>
          <a:lstStyle/>
          <a:p>
            <a:pPr algn="ctr">
              <a:lnSpc>
                <a:spcPts val="3993"/>
              </a:lnSpc>
              <a:spcBef>
                <a:spcPct val="0"/>
              </a:spcBef>
            </a:pPr>
            <a:r>
              <a:rPr lang="en-US" sz="2495" dirty="0">
                <a:solidFill>
                  <a:srgbClr val="000000"/>
                </a:solidFill>
                <a:latin typeface="Canva Sans Bold"/>
              </a:rPr>
              <a:t>Z-SCORE FOR THE </a:t>
            </a:r>
          </a:p>
          <a:p>
            <a:pPr algn="ctr">
              <a:lnSpc>
                <a:spcPts val="3993"/>
              </a:lnSpc>
              <a:spcBef>
                <a:spcPct val="0"/>
              </a:spcBef>
            </a:pPr>
            <a:r>
              <a:rPr lang="en-US" sz="2495" dirty="0">
                <a:solidFill>
                  <a:srgbClr val="000000"/>
                </a:solidFill>
                <a:latin typeface="Canva Sans Bold"/>
              </a:rPr>
              <a:t>DIFFERENCE IN </a:t>
            </a:r>
          </a:p>
          <a:p>
            <a:pPr algn="ctr">
              <a:lnSpc>
                <a:spcPts val="3993"/>
              </a:lnSpc>
              <a:spcBef>
                <a:spcPct val="0"/>
              </a:spcBef>
            </a:pPr>
            <a:r>
              <a:rPr lang="en-US" sz="2495" dirty="0">
                <a:solidFill>
                  <a:srgbClr val="000000"/>
                </a:solidFill>
                <a:latin typeface="Canva Sans Bold"/>
              </a:rPr>
              <a:t>SAMPLE PROPORTIONS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599680" y="7134186"/>
            <a:ext cx="3389636" cy="5032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dirty="0">
                <a:solidFill>
                  <a:srgbClr val="000000"/>
                </a:solidFill>
                <a:latin typeface="Canva Sans Bold"/>
              </a:rPr>
              <a:t>CONCLUSION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139238" y="4819967"/>
            <a:ext cx="9525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endParaRPr/>
          </a:p>
        </p:txBody>
      </p:sp>
      <p:sp>
        <p:nvSpPr>
          <p:cNvPr id="22" name="TextBox 22"/>
          <p:cNvSpPr txBox="1"/>
          <p:nvPr/>
        </p:nvSpPr>
        <p:spPr>
          <a:xfrm>
            <a:off x="9139238" y="4652327"/>
            <a:ext cx="9525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endParaRPr/>
          </a:p>
        </p:txBody>
      </p:sp>
      <p:sp>
        <p:nvSpPr>
          <p:cNvPr id="23" name="TextBox 23"/>
          <p:cNvSpPr txBox="1"/>
          <p:nvPr/>
        </p:nvSpPr>
        <p:spPr>
          <a:xfrm>
            <a:off x="3016614" y="6657961"/>
            <a:ext cx="3648908" cy="1471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B24A3B"/>
                </a:solidFill>
                <a:latin typeface="Canva Sans Bold"/>
              </a:rPr>
              <a:t>Celebrity reviews do </a:t>
            </a:r>
          </a:p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B24A3B"/>
                </a:solidFill>
                <a:latin typeface="Canva Sans Bold"/>
              </a:rPr>
              <a:t>not perform better </a:t>
            </a:r>
          </a:p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B24A3B"/>
                </a:solidFill>
                <a:latin typeface="Canva Sans Bold"/>
              </a:rPr>
              <a:t>than video reviews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989316" y="6657961"/>
            <a:ext cx="3744635" cy="1471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B24A3B"/>
                </a:solidFill>
                <a:latin typeface="Canva Sans Bold"/>
              </a:rPr>
              <a:t>Customer reviews do </a:t>
            </a:r>
          </a:p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B24A3B"/>
                </a:solidFill>
                <a:latin typeface="Canva Sans Bold"/>
              </a:rPr>
              <a:t>perform better </a:t>
            </a:r>
          </a:p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B24A3B"/>
                </a:solidFill>
                <a:latin typeface="Canva Sans Bold"/>
              </a:rPr>
              <a:t>than video reviews</a:t>
            </a:r>
          </a:p>
        </p:txBody>
      </p:sp>
      <p:sp>
        <p:nvSpPr>
          <p:cNvPr id="25" name="Freeform 25"/>
          <p:cNvSpPr/>
          <p:nvPr/>
        </p:nvSpPr>
        <p:spPr>
          <a:xfrm>
            <a:off x="10723030" y="4882550"/>
            <a:ext cx="565744" cy="521899"/>
          </a:xfrm>
          <a:custGeom>
            <a:avLst/>
            <a:gdLst/>
            <a:ahLst/>
            <a:cxnLst/>
            <a:rect l="l" t="t" r="r" b="b"/>
            <a:pathLst>
              <a:path w="565744" h="521899">
                <a:moveTo>
                  <a:pt x="0" y="0"/>
                </a:moveTo>
                <a:lnTo>
                  <a:pt x="565745" y="0"/>
                </a:lnTo>
                <a:lnTo>
                  <a:pt x="565745" y="521900"/>
                </a:lnTo>
                <a:lnTo>
                  <a:pt x="0" y="5219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11486382" y="4460840"/>
            <a:ext cx="642071" cy="123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142"/>
              </a:lnSpc>
            </a:pPr>
            <a:r>
              <a:rPr lang="en-US" sz="7244">
                <a:solidFill>
                  <a:srgbClr val="000000"/>
                </a:solidFill>
                <a:latin typeface="Canva Sans Bold"/>
              </a:rPr>
              <a:t>0</a:t>
            </a: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88759" y="2797634"/>
            <a:ext cx="11634910" cy="7388168"/>
          </a:xfrm>
          <a:custGeom>
            <a:avLst/>
            <a:gdLst/>
            <a:ahLst/>
            <a:cxnLst/>
            <a:rect l="l" t="t" r="r" b="b"/>
            <a:pathLst>
              <a:path w="11634910" h="7388168">
                <a:moveTo>
                  <a:pt x="0" y="0"/>
                </a:moveTo>
                <a:lnTo>
                  <a:pt x="11634910" y="0"/>
                </a:lnTo>
                <a:lnTo>
                  <a:pt x="11634910" y="7388168"/>
                </a:lnTo>
                <a:lnTo>
                  <a:pt x="0" y="73881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19050"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9139238" y="4274503"/>
            <a:ext cx="9525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2015900" y="14184"/>
            <a:ext cx="9008269" cy="1194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79"/>
              </a:lnSpc>
              <a:spcBef>
                <a:spcPct val="0"/>
              </a:spcBef>
            </a:pPr>
            <a:r>
              <a:rPr lang="en-US" sz="6299">
                <a:solidFill>
                  <a:srgbClr val="000000"/>
                </a:solidFill>
                <a:latin typeface="Montserrat Classic Bold"/>
              </a:rPr>
              <a:t>Capturing the "bump"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-648609" y="1433349"/>
            <a:ext cx="19575694" cy="1221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8"/>
              </a:lnSpc>
            </a:pPr>
            <a:r>
              <a:rPr lang="en-US" sz="4725">
                <a:solidFill>
                  <a:srgbClr val="0097B2"/>
                </a:solidFill>
                <a:latin typeface="Lovelo"/>
              </a:rPr>
              <a:t>Total Purchases = β1 customer review + β2 celebrity review*video review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648776" y="3388006"/>
            <a:ext cx="5302943" cy="1354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30"/>
              </a:lnSpc>
            </a:pPr>
            <a:r>
              <a:rPr lang="en-US" sz="8600">
                <a:solidFill>
                  <a:srgbClr val="000000"/>
                </a:solidFill>
                <a:latin typeface="Kollektif"/>
              </a:rPr>
              <a:t>Variables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536394" y="3109878"/>
            <a:ext cx="5218152" cy="1632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479"/>
              </a:lnSpc>
              <a:spcBef>
                <a:spcPct val="0"/>
              </a:spcBef>
            </a:pPr>
            <a:r>
              <a:rPr lang="en-US" sz="7799">
                <a:solidFill>
                  <a:srgbClr val="000000"/>
                </a:solidFill>
                <a:latin typeface="Kollektif"/>
              </a:rPr>
              <a:t>Coefficients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840181" y="5629795"/>
            <a:ext cx="3359706" cy="1571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dirty="0">
                <a:solidFill>
                  <a:srgbClr val="000000"/>
                </a:solidFill>
                <a:latin typeface="Canva Sans Bold"/>
              </a:rPr>
              <a:t>CUSTOMER </a:t>
            </a:r>
          </a:p>
          <a:p>
            <a:pPr algn="ctr">
              <a:lnSpc>
                <a:spcPts val="6300"/>
              </a:lnSpc>
            </a:pPr>
            <a:r>
              <a:rPr lang="en-US" sz="4500" dirty="0">
                <a:solidFill>
                  <a:srgbClr val="000000"/>
                </a:solidFill>
                <a:latin typeface="Canva Sans Bold"/>
              </a:rPr>
              <a:t>REVIEW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840696" y="7967286"/>
            <a:ext cx="5276291" cy="1452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19"/>
              </a:lnSpc>
            </a:pPr>
            <a:r>
              <a:rPr lang="en-US" sz="4228">
                <a:solidFill>
                  <a:srgbClr val="000000"/>
                </a:solidFill>
                <a:latin typeface="Canva Sans Bold"/>
              </a:rPr>
              <a:t>CELEBRITY + VIDEO </a:t>
            </a:r>
          </a:p>
          <a:p>
            <a:pPr algn="ctr">
              <a:lnSpc>
                <a:spcPts val="5919"/>
              </a:lnSpc>
            </a:pPr>
            <a:r>
              <a:rPr lang="en-US" sz="4228">
                <a:solidFill>
                  <a:srgbClr val="000000"/>
                </a:solidFill>
                <a:latin typeface="Canva Sans Bold"/>
              </a:rPr>
              <a:t>REVIEWS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825758" y="5942934"/>
            <a:ext cx="1864162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>
                <a:solidFill>
                  <a:srgbClr val="000000"/>
                </a:solidFill>
                <a:latin typeface="Canva Sans Bold"/>
              </a:rPr>
              <a:t>0.1814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431482" y="8303087"/>
            <a:ext cx="2652712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>
                <a:solidFill>
                  <a:srgbClr val="000000"/>
                </a:solidFill>
                <a:latin typeface="Canva Sans Bold"/>
              </a:rPr>
              <a:t>0.003761</a:t>
            </a: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39238" y="4274503"/>
            <a:ext cx="9525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9525" y="5864859"/>
            <a:ext cx="2784283" cy="4380577"/>
          </a:xfrm>
          <a:custGeom>
            <a:avLst/>
            <a:gdLst/>
            <a:ahLst/>
            <a:cxnLst/>
            <a:rect l="l" t="t" r="r" b="b"/>
            <a:pathLst>
              <a:path w="2784283" h="4380577">
                <a:moveTo>
                  <a:pt x="0" y="0"/>
                </a:moveTo>
                <a:lnTo>
                  <a:pt x="2784283" y="0"/>
                </a:lnTo>
                <a:lnTo>
                  <a:pt x="2784283" y="4380577"/>
                </a:lnTo>
                <a:lnTo>
                  <a:pt x="0" y="43805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111232" y="-2581"/>
            <a:ext cx="2167243" cy="3409774"/>
          </a:xfrm>
          <a:custGeom>
            <a:avLst/>
            <a:gdLst/>
            <a:ahLst/>
            <a:cxnLst/>
            <a:rect l="l" t="t" r="r" b="b"/>
            <a:pathLst>
              <a:path w="2167243" h="3409774">
                <a:moveTo>
                  <a:pt x="0" y="0"/>
                </a:moveTo>
                <a:lnTo>
                  <a:pt x="2167244" y="0"/>
                </a:lnTo>
                <a:lnTo>
                  <a:pt x="2167244" y="3409774"/>
                </a:lnTo>
                <a:lnTo>
                  <a:pt x="0" y="34097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2657283" y="1630043"/>
            <a:ext cx="14000110" cy="3294436"/>
            <a:chOff x="0" y="0"/>
            <a:chExt cx="3687272" cy="86767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687272" cy="867670"/>
            </a:xfrm>
            <a:custGeom>
              <a:avLst/>
              <a:gdLst/>
              <a:ahLst/>
              <a:cxnLst/>
              <a:rect l="l" t="t" r="r" b="b"/>
              <a:pathLst>
                <a:path w="3687272" h="867670">
                  <a:moveTo>
                    <a:pt x="0" y="0"/>
                  </a:moveTo>
                  <a:lnTo>
                    <a:pt x="3687272" y="0"/>
                  </a:lnTo>
                  <a:lnTo>
                    <a:pt x="3687272" y="867670"/>
                  </a:lnTo>
                  <a:lnTo>
                    <a:pt x="0" y="867670"/>
                  </a:lnTo>
                  <a:close/>
                </a:path>
              </a:pathLst>
            </a:custGeom>
            <a:solidFill>
              <a:srgbClr val="6296C7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95250"/>
              <a:ext cx="812800" cy="908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93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086912" y="2006258"/>
            <a:ext cx="13140852" cy="2446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15"/>
              </a:lnSpc>
              <a:spcBef>
                <a:spcPct val="0"/>
              </a:spcBef>
            </a:pPr>
            <a:r>
              <a:rPr lang="en-US" sz="4653">
                <a:solidFill>
                  <a:srgbClr val="000000"/>
                </a:solidFill>
                <a:latin typeface="Canva Sans Bold"/>
              </a:rPr>
              <a:t>Measures and policies need to be adopted to improve the performance of influencer ratings and video reviews.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2657283" y="5437276"/>
            <a:ext cx="14000110" cy="3294436"/>
            <a:chOff x="0" y="0"/>
            <a:chExt cx="3687272" cy="86767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687272" cy="867670"/>
            </a:xfrm>
            <a:custGeom>
              <a:avLst/>
              <a:gdLst/>
              <a:ahLst/>
              <a:cxnLst/>
              <a:rect l="l" t="t" r="r" b="b"/>
              <a:pathLst>
                <a:path w="3687272" h="867670">
                  <a:moveTo>
                    <a:pt x="0" y="0"/>
                  </a:moveTo>
                  <a:lnTo>
                    <a:pt x="3687272" y="0"/>
                  </a:lnTo>
                  <a:lnTo>
                    <a:pt x="3687272" y="867670"/>
                  </a:lnTo>
                  <a:lnTo>
                    <a:pt x="0" y="867670"/>
                  </a:lnTo>
                  <a:close/>
                </a:path>
              </a:pathLst>
            </a:custGeom>
            <a:solidFill>
              <a:srgbClr val="6296C7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95250"/>
              <a:ext cx="812800" cy="908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93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3957399" y="5299680"/>
            <a:ext cx="10363677" cy="2397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40"/>
              </a:lnSpc>
              <a:spcBef>
                <a:spcPct val="0"/>
              </a:spcBef>
            </a:pPr>
            <a:endParaRPr/>
          </a:p>
          <a:p>
            <a:pPr algn="ctr">
              <a:lnSpc>
                <a:spcPts val="6440"/>
              </a:lnSpc>
              <a:spcBef>
                <a:spcPct val="0"/>
              </a:spcBef>
            </a:pPr>
            <a:r>
              <a:rPr lang="en-US" sz="4600">
                <a:solidFill>
                  <a:srgbClr val="000000"/>
                </a:solidFill>
                <a:latin typeface="Canva Sans Bold"/>
              </a:rPr>
              <a:t>Customer feedback posts should be </a:t>
            </a:r>
          </a:p>
          <a:p>
            <a:pPr algn="ctr">
              <a:lnSpc>
                <a:spcPts val="6440"/>
              </a:lnSpc>
              <a:spcBef>
                <a:spcPct val="0"/>
              </a:spcBef>
            </a:pPr>
            <a:r>
              <a:rPr lang="en-US" sz="4600">
                <a:solidFill>
                  <a:srgbClr val="000000"/>
                </a:solidFill>
                <a:latin typeface="Canva Sans Bold"/>
              </a:rPr>
              <a:t>promoted to boost sales.</a:t>
            </a: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7000" y="1984375"/>
            <a:ext cx="3594126" cy="8937625"/>
            <a:chOff x="0" y="0"/>
            <a:chExt cx="4792168" cy="11916833"/>
          </a:xfrm>
        </p:grpSpPr>
        <p:sp>
          <p:nvSpPr>
            <p:cNvPr id="3" name="Freeform 3"/>
            <p:cNvSpPr/>
            <p:nvPr/>
          </p:nvSpPr>
          <p:spPr>
            <a:xfrm>
              <a:off x="0" y="6076064"/>
              <a:ext cx="3712378" cy="5840770"/>
            </a:xfrm>
            <a:custGeom>
              <a:avLst/>
              <a:gdLst/>
              <a:ahLst/>
              <a:cxnLst/>
              <a:rect l="l" t="t" r="r" b="b"/>
              <a:pathLst>
                <a:path w="3712378" h="5840770">
                  <a:moveTo>
                    <a:pt x="0" y="0"/>
                  </a:moveTo>
                  <a:lnTo>
                    <a:pt x="3712378" y="0"/>
                  </a:lnTo>
                  <a:lnTo>
                    <a:pt x="3712378" y="5840769"/>
                  </a:lnTo>
                  <a:lnTo>
                    <a:pt x="0" y="5840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3712378" y="4951707"/>
              <a:ext cx="1079790" cy="1698859"/>
            </a:xfrm>
            <a:custGeom>
              <a:avLst/>
              <a:gdLst/>
              <a:ahLst/>
              <a:cxnLst/>
              <a:rect l="l" t="t" r="r" b="b"/>
              <a:pathLst>
                <a:path w="1079790" h="1698859">
                  <a:moveTo>
                    <a:pt x="0" y="0"/>
                  </a:moveTo>
                  <a:lnTo>
                    <a:pt x="1079790" y="0"/>
                  </a:lnTo>
                  <a:lnTo>
                    <a:pt x="1079790" y="1698859"/>
                  </a:lnTo>
                  <a:lnTo>
                    <a:pt x="0" y="16988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540933" y="0"/>
              <a:ext cx="1079790" cy="1698859"/>
            </a:xfrm>
            <a:custGeom>
              <a:avLst/>
              <a:gdLst/>
              <a:ahLst/>
              <a:cxnLst/>
              <a:rect l="l" t="t" r="r" b="b"/>
              <a:pathLst>
                <a:path w="1079790" h="1698859">
                  <a:moveTo>
                    <a:pt x="0" y="0"/>
                  </a:moveTo>
                  <a:lnTo>
                    <a:pt x="1079790" y="0"/>
                  </a:lnTo>
                  <a:lnTo>
                    <a:pt x="1079790" y="1698859"/>
                  </a:lnTo>
                  <a:lnTo>
                    <a:pt x="0" y="16988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>
            <a:off x="3467126" y="1984375"/>
            <a:ext cx="2615222" cy="2461578"/>
          </a:xfrm>
          <a:custGeom>
            <a:avLst/>
            <a:gdLst/>
            <a:ahLst/>
            <a:cxnLst/>
            <a:rect l="l" t="t" r="r" b="b"/>
            <a:pathLst>
              <a:path w="2615222" h="2461578">
                <a:moveTo>
                  <a:pt x="0" y="0"/>
                </a:moveTo>
                <a:lnTo>
                  <a:pt x="2615222" y="0"/>
                </a:lnTo>
                <a:lnTo>
                  <a:pt x="2615222" y="2461578"/>
                </a:lnTo>
                <a:lnTo>
                  <a:pt x="0" y="24615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3467126" y="6796722"/>
            <a:ext cx="2615222" cy="2461578"/>
          </a:xfrm>
          <a:custGeom>
            <a:avLst/>
            <a:gdLst/>
            <a:ahLst/>
            <a:cxnLst/>
            <a:rect l="l" t="t" r="r" b="b"/>
            <a:pathLst>
              <a:path w="2615222" h="2461578">
                <a:moveTo>
                  <a:pt x="0" y="0"/>
                </a:moveTo>
                <a:lnTo>
                  <a:pt x="2615222" y="0"/>
                </a:lnTo>
                <a:lnTo>
                  <a:pt x="2615222" y="2461578"/>
                </a:lnTo>
                <a:lnTo>
                  <a:pt x="0" y="24615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9139238" y="4274503"/>
            <a:ext cx="9525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1402888" y="387900"/>
            <a:ext cx="14141272" cy="943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23"/>
              </a:lnSpc>
            </a:pPr>
            <a:r>
              <a:rPr lang="en-US" sz="7023">
                <a:solidFill>
                  <a:srgbClr val="222222"/>
                </a:solidFill>
                <a:latin typeface="Montserrat Classic Bold"/>
              </a:rPr>
              <a:t>Summarising the solution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57631" y="2577133"/>
            <a:ext cx="12449398" cy="19236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4800" dirty="0">
                <a:solidFill>
                  <a:srgbClr val="000000"/>
                </a:solidFill>
                <a:latin typeface="Kollektif"/>
              </a:rPr>
              <a:t>Celebrity reviews are least influential in  comparison to the other reviews when </a:t>
            </a:r>
          </a:p>
          <a:p>
            <a:pPr algn="just">
              <a:lnSpc>
                <a:spcPts val="5040"/>
              </a:lnSpc>
            </a:pPr>
            <a:r>
              <a:rPr lang="en-US" sz="4800" dirty="0">
                <a:solidFill>
                  <a:srgbClr val="000000"/>
                </a:solidFill>
                <a:latin typeface="Kollektif"/>
              </a:rPr>
              <a:t>considered pairwise.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657630" y="7360761"/>
            <a:ext cx="15560265" cy="2034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4800">
                <a:solidFill>
                  <a:srgbClr val="000000"/>
                </a:solidFill>
                <a:latin typeface="Kollektif"/>
              </a:rPr>
              <a:t>Customer reviews generate more income for </a:t>
            </a:r>
          </a:p>
          <a:p>
            <a:pPr algn="just">
              <a:lnSpc>
                <a:spcPts val="5040"/>
              </a:lnSpc>
            </a:pPr>
            <a:r>
              <a:rPr lang="en-US" sz="4800">
                <a:solidFill>
                  <a:srgbClr val="000000"/>
                </a:solidFill>
                <a:latin typeface="Kollektif"/>
              </a:rPr>
              <a:t>the business than celebrity endorsements </a:t>
            </a:r>
          </a:p>
          <a:p>
            <a:pPr algn="just">
              <a:lnSpc>
                <a:spcPts val="5040"/>
              </a:lnSpc>
            </a:pPr>
            <a:r>
              <a:rPr lang="en-US" sz="4800">
                <a:solidFill>
                  <a:srgbClr val="000000"/>
                </a:solidFill>
                <a:latin typeface="Kollektif"/>
              </a:rPr>
              <a:t>and video reviews put together.</a:t>
            </a: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CE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996573" y="305919"/>
            <a:ext cx="2167243" cy="4812025"/>
            <a:chOff x="0" y="0"/>
            <a:chExt cx="2889658" cy="64160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89658" cy="4546365"/>
            </a:xfrm>
            <a:custGeom>
              <a:avLst/>
              <a:gdLst/>
              <a:ahLst/>
              <a:cxnLst/>
              <a:rect l="l" t="t" r="r" b="b"/>
              <a:pathLst>
                <a:path w="2889658" h="4546365">
                  <a:moveTo>
                    <a:pt x="0" y="0"/>
                  </a:moveTo>
                  <a:lnTo>
                    <a:pt x="2889658" y="0"/>
                  </a:lnTo>
                  <a:lnTo>
                    <a:pt x="2889658" y="4546365"/>
                  </a:lnTo>
                  <a:lnTo>
                    <a:pt x="0" y="4546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809867" y="4717175"/>
              <a:ext cx="1079790" cy="1698859"/>
            </a:xfrm>
            <a:custGeom>
              <a:avLst/>
              <a:gdLst/>
              <a:ahLst/>
              <a:cxnLst/>
              <a:rect l="l" t="t" r="r" b="b"/>
              <a:pathLst>
                <a:path w="1079790" h="1698859">
                  <a:moveTo>
                    <a:pt x="0" y="0"/>
                  </a:moveTo>
                  <a:lnTo>
                    <a:pt x="1079791" y="0"/>
                  </a:lnTo>
                  <a:lnTo>
                    <a:pt x="1079791" y="1698858"/>
                  </a:lnTo>
                  <a:lnTo>
                    <a:pt x="0" y="1698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1028700" y="870036"/>
            <a:ext cx="16230600" cy="2025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50"/>
              </a:lnSpc>
            </a:pPr>
            <a:r>
              <a:rPr lang="en-US" sz="7227">
                <a:solidFill>
                  <a:srgbClr val="222222"/>
                </a:solidFill>
                <a:latin typeface="Montserrat Classic Bold"/>
              </a:rPr>
              <a:t>DETERMINING CUSTOMER JOURNEY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0058400" y="2254022"/>
            <a:ext cx="8229600" cy="8229600"/>
            <a:chOff x="0" y="0"/>
            <a:chExt cx="10972800" cy="10972800"/>
          </a:xfrm>
        </p:grpSpPr>
        <p:grpSp>
          <p:nvGrpSpPr>
            <p:cNvPr id="7" name="Group 7"/>
            <p:cNvGrpSpPr/>
            <p:nvPr/>
          </p:nvGrpSpPr>
          <p:grpSpPr>
            <a:xfrm rot="5400000">
              <a:off x="4875853" y="9871929"/>
              <a:ext cx="1221093" cy="980648"/>
              <a:chOff x="0" y="0"/>
              <a:chExt cx="706752" cy="5080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215900"/>
                <a:ext cx="706752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06752" h="76200">
                    <a:moveTo>
                      <a:pt x="0" y="0"/>
                    </a:moveTo>
                    <a:lnTo>
                      <a:pt x="706752" y="0"/>
                    </a:lnTo>
                    <a:lnTo>
                      <a:pt x="706752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9" name="Group 9"/>
            <p:cNvGrpSpPr/>
            <p:nvPr/>
          </p:nvGrpSpPr>
          <p:grpSpPr>
            <a:xfrm rot="5400000">
              <a:off x="4875853" y="120223"/>
              <a:ext cx="1221093" cy="980648"/>
              <a:chOff x="0" y="0"/>
              <a:chExt cx="706752" cy="5080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215900"/>
                <a:ext cx="706752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06752" h="76200">
                    <a:moveTo>
                      <a:pt x="0" y="0"/>
                    </a:moveTo>
                    <a:lnTo>
                      <a:pt x="706752" y="0"/>
                    </a:lnTo>
                    <a:lnTo>
                      <a:pt x="706752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11" name="Group 11"/>
            <p:cNvGrpSpPr/>
            <p:nvPr/>
          </p:nvGrpSpPr>
          <p:grpSpPr>
            <a:xfrm rot="-10800000">
              <a:off x="0" y="4996076"/>
              <a:ext cx="1221093" cy="980648"/>
              <a:chOff x="0" y="0"/>
              <a:chExt cx="706752" cy="5080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215900"/>
                <a:ext cx="706752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06752" h="76200">
                    <a:moveTo>
                      <a:pt x="0" y="0"/>
                    </a:moveTo>
                    <a:lnTo>
                      <a:pt x="706752" y="0"/>
                    </a:lnTo>
                    <a:lnTo>
                      <a:pt x="706752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13" name="Group 13"/>
            <p:cNvGrpSpPr/>
            <p:nvPr/>
          </p:nvGrpSpPr>
          <p:grpSpPr>
            <a:xfrm rot="-10800000">
              <a:off x="9751707" y="4996076"/>
              <a:ext cx="1221093" cy="980648"/>
              <a:chOff x="0" y="0"/>
              <a:chExt cx="706752" cy="5080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215900"/>
                <a:ext cx="706752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06752" h="76200">
                    <a:moveTo>
                      <a:pt x="0" y="0"/>
                    </a:moveTo>
                    <a:lnTo>
                      <a:pt x="706752" y="0"/>
                    </a:lnTo>
                    <a:lnTo>
                      <a:pt x="706752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15" name="Group 15"/>
            <p:cNvGrpSpPr/>
            <p:nvPr/>
          </p:nvGrpSpPr>
          <p:grpSpPr>
            <a:xfrm rot="7314931">
              <a:off x="2298144" y="9134839"/>
              <a:ext cx="1221093" cy="980648"/>
              <a:chOff x="0" y="0"/>
              <a:chExt cx="706752" cy="5080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215900"/>
                <a:ext cx="706752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06752" h="76200">
                    <a:moveTo>
                      <a:pt x="0" y="0"/>
                    </a:moveTo>
                    <a:lnTo>
                      <a:pt x="706752" y="0"/>
                    </a:lnTo>
                    <a:lnTo>
                      <a:pt x="706752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17" name="Group 17"/>
            <p:cNvGrpSpPr/>
            <p:nvPr/>
          </p:nvGrpSpPr>
          <p:grpSpPr>
            <a:xfrm rot="7314931">
              <a:off x="7453563" y="857313"/>
              <a:ext cx="1221093" cy="980648"/>
              <a:chOff x="0" y="0"/>
              <a:chExt cx="706752" cy="5080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215900"/>
                <a:ext cx="706752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06752" h="76200">
                    <a:moveTo>
                      <a:pt x="0" y="0"/>
                    </a:moveTo>
                    <a:lnTo>
                      <a:pt x="706752" y="0"/>
                    </a:lnTo>
                    <a:lnTo>
                      <a:pt x="706752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19" name="Group 19"/>
            <p:cNvGrpSpPr/>
            <p:nvPr/>
          </p:nvGrpSpPr>
          <p:grpSpPr>
            <a:xfrm rot="-8885068">
              <a:off x="737090" y="2418367"/>
              <a:ext cx="1221093" cy="980648"/>
              <a:chOff x="0" y="0"/>
              <a:chExt cx="706752" cy="5080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215900"/>
                <a:ext cx="706752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06752" h="76200">
                    <a:moveTo>
                      <a:pt x="0" y="0"/>
                    </a:moveTo>
                    <a:lnTo>
                      <a:pt x="706752" y="0"/>
                    </a:lnTo>
                    <a:lnTo>
                      <a:pt x="706752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21" name="Group 21"/>
            <p:cNvGrpSpPr/>
            <p:nvPr/>
          </p:nvGrpSpPr>
          <p:grpSpPr>
            <a:xfrm rot="-8885068">
              <a:off x="9014616" y="7573785"/>
              <a:ext cx="1221093" cy="980648"/>
              <a:chOff x="0" y="0"/>
              <a:chExt cx="706752" cy="5080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215900"/>
                <a:ext cx="706752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06752" h="76200">
                    <a:moveTo>
                      <a:pt x="0" y="0"/>
                    </a:moveTo>
                    <a:lnTo>
                      <a:pt x="706752" y="0"/>
                    </a:lnTo>
                    <a:lnTo>
                      <a:pt x="706752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23" name="Group 23"/>
            <p:cNvGrpSpPr/>
            <p:nvPr/>
          </p:nvGrpSpPr>
          <p:grpSpPr>
            <a:xfrm rot="9043094">
              <a:off x="623012" y="7380879"/>
              <a:ext cx="1221093" cy="980648"/>
              <a:chOff x="0" y="0"/>
              <a:chExt cx="706752" cy="5080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215900"/>
                <a:ext cx="706752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06752" h="76200">
                    <a:moveTo>
                      <a:pt x="0" y="0"/>
                    </a:moveTo>
                    <a:lnTo>
                      <a:pt x="706752" y="0"/>
                    </a:lnTo>
                    <a:lnTo>
                      <a:pt x="706752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25" name="Group 25"/>
            <p:cNvGrpSpPr/>
            <p:nvPr/>
          </p:nvGrpSpPr>
          <p:grpSpPr>
            <a:xfrm rot="9043094">
              <a:off x="9128695" y="2611273"/>
              <a:ext cx="1221093" cy="980648"/>
              <a:chOff x="0" y="0"/>
              <a:chExt cx="706752" cy="5080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215900"/>
                <a:ext cx="706752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06752" h="76200">
                    <a:moveTo>
                      <a:pt x="0" y="0"/>
                    </a:moveTo>
                    <a:lnTo>
                      <a:pt x="706752" y="0"/>
                    </a:lnTo>
                    <a:lnTo>
                      <a:pt x="706752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27" name="Group 27"/>
            <p:cNvGrpSpPr/>
            <p:nvPr/>
          </p:nvGrpSpPr>
          <p:grpSpPr>
            <a:xfrm rot="-7156905">
              <a:off x="2491050" y="743235"/>
              <a:ext cx="1221093" cy="980648"/>
              <a:chOff x="0" y="0"/>
              <a:chExt cx="706752" cy="5080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215900"/>
                <a:ext cx="706752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06752" h="76200">
                    <a:moveTo>
                      <a:pt x="0" y="0"/>
                    </a:moveTo>
                    <a:lnTo>
                      <a:pt x="706752" y="0"/>
                    </a:lnTo>
                    <a:lnTo>
                      <a:pt x="706752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id="29" name="Group 29"/>
            <p:cNvGrpSpPr/>
            <p:nvPr/>
          </p:nvGrpSpPr>
          <p:grpSpPr>
            <a:xfrm rot="-7156905">
              <a:off x="7260656" y="9248917"/>
              <a:ext cx="1221093" cy="980648"/>
              <a:chOff x="0" y="0"/>
              <a:chExt cx="706752" cy="5080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215900"/>
                <a:ext cx="706752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06752" h="76200">
                    <a:moveTo>
                      <a:pt x="0" y="0"/>
                    </a:moveTo>
                    <a:lnTo>
                      <a:pt x="706752" y="0"/>
                    </a:lnTo>
                    <a:lnTo>
                      <a:pt x="706752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2427114" y="3645868"/>
              <a:ext cx="6118573" cy="36194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025"/>
                </a:lnSpc>
                <a:spcBef>
                  <a:spcPct val="0"/>
                </a:spcBef>
              </a:pPr>
              <a:r>
                <a:rPr lang="en-US" sz="7875" spc="7">
                  <a:solidFill>
                    <a:srgbClr val="FFFFFF"/>
                  </a:solidFill>
                  <a:latin typeface="Berkshire Swash"/>
                </a:rPr>
                <a:t>Key Indicators</a:t>
              </a:r>
            </a:p>
          </p:txBody>
        </p:sp>
      </p:grpSp>
      <p:sp>
        <p:nvSpPr>
          <p:cNvPr id="32" name="Freeform 32"/>
          <p:cNvSpPr/>
          <p:nvPr/>
        </p:nvSpPr>
        <p:spPr>
          <a:xfrm>
            <a:off x="823286" y="3431916"/>
            <a:ext cx="1247583" cy="1057327"/>
          </a:xfrm>
          <a:custGeom>
            <a:avLst/>
            <a:gdLst/>
            <a:ahLst/>
            <a:cxnLst/>
            <a:rect l="l" t="t" r="r" b="b"/>
            <a:pathLst>
              <a:path w="1247583" h="1057327">
                <a:moveTo>
                  <a:pt x="0" y="0"/>
                </a:moveTo>
                <a:lnTo>
                  <a:pt x="1247584" y="0"/>
                </a:lnTo>
                <a:lnTo>
                  <a:pt x="1247584" y="1057327"/>
                </a:lnTo>
                <a:lnTo>
                  <a:pt x="0" y="1057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2433624" y="3416384"/>
            <a:ext cx="6600349" cy="738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20"/>
              </a:lnSpc>
            </a:pPr>
            <a:r>
              <a:rPr lang="en-US" sz="4300">
                <a:solidFill>
                  <a:srgbClr val="000000"/>
                </a:solidFill>
                <a:latin typeface="Canva Sans Bold"/>
              </a:rPr>
              <a:t>Top 6 most visited pages</a:t>
            </a:r>
          </a:p>
        </p:txBody>
      </p:sp>
      <p:sp>
        <p:nvSpPr>
          <p:cNvPr id="34" name="Freeform 34"/>
          <p:cNvSpPr/>
          <p:nvPr/>
        </p:nvSpPr>
        <p:spPr>
          <a:xfrm>
            <a:off x="823286" y="5025162"/>
            <a:ext cx="1247583" cy="1057327"/>
          </a:xfrm>
          <a:custGeom>
            <a:avLst/>
            <a:gdLst/>
            <a:ahLst/>
            <a:cxnLst/>
            <a:rect l="l" t="t" r="r" b="b"/>
            <a:pathLst>
              <a:path w="1247583" h="1057327">
                <a:moveTo>
                  <a:pt x="0" y="0"/>
                </a:moveTo>
                <a:lnTo>
                  <a:pt x="1247584" y="0"/>
                </a:lnTo>
                <a:lnTo>
                  <a:pt x="1247584" y="1057327"/>
                </a:lnTo>
                <a:lnTo>
                  <a:pt x="0" y="1057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5" name="TextBox 35"/>
          <p:cNvSpPr txBox="1"/>
          <p:nvPr/>
        </p:nvSpPr>
        <p:spPr>
          <a:xfrm>
            <a:off x="2276283" y="4948962"/>
            <a:ext cx="10297434" cy="1419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740"/>
              </a:lnSpc>
            </a:pPr>
            <a:r>
              <a:rPr lang="en-US" sz="4100">
                <a:solidFill>
                  <a:srgbClr val="000000"/>
                </a:solidFill>
                <a:latin typeface="Canva Sans Bold"/>
              </a:rPr>
              <a:t>Path followed by a set of </a:t>
            </a:r>
          </a:p>
          <a:p>
            <a:pPr algn="just">
              <a:lnSpc>
                <a:spcPts val="5740"/>
              </a:lnSpc>
            </a:pPr>
            <a:r>
              <a:rPr lang="en-US" sz="4100">
                <a:solidFill>
                  <a:srgbClr val="000000"/>
                </a:solidFill>
                <a:latin typeface="Canva Sans Bold"/>
              </a:rPr>
              <a:t>random users and their exit pages </a:t>
            </a:r>
          </a:p>
        </p:txBody>
      </p:sp>
      <p:sp>
        <p:nvSpPr>
          <p:cNvPr id="36" name="Freeform 36"/>
          <p:cNvSpPr/>
          <p:nvPr/>
        </p:nvSpPr>
        <p:spPr>
          <a:xfrm>
            <a:off x="823286" y="6779324"/>
            <a:ext cx="1247583" cy="1057327"/>
          </a:xfrm>
          <a:custGeom>
            <a:avLst/>
            <a:gdLst/>
            <a:ahLst/>
            <a:cxnLst/>
            <a:rect l="l" t="t" r="r" b="b"/>
            <a:pathLst>
              <a:path w="1247583" h="1057327">
                <a:moveTo>
                  <a:pt x="0" y="0"/>
                </a:moveTo>
                <a:lnTo>
                  <a:pt x="1247584" y="0"/>
                </a:lnTo>
                <a:lnTo>
                  <a:pt x="1247584" y="1057327"/>
                </a:lnTo>
                <a:lnTo>
                  <a:pt x="0" y="1057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7" name="TextBox 37"/>
          <p:cNvSpPr txBox="1"/>
          <p:nvPr/>
        </p:nvSpPr>
        <p:spPr>
          <a:xfrm>
            <a:off x="2276283" y="6703124"/>
            <a:ext cx="10297434" cy="1419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740"/>
              </a:lnSpc>
            </a:pPr>
            <a:r>
              <a:rPr lang="en-US" sz="4100">
                <a:solidFill>
                  <a:srgbClr val="000000"/>
                </a:solidFill>
                <a:latin typeface="Canva Sans Bold"/>
              </a:rPr>
              <a:t>Average number of </a:t>
            </a:r>
          </a:p>
          <a:p>
            <a:pPr algn="just">
              <a:lnSpc>
                <a:spcPts val="5740"/>
              </a:lnSpc>
            </a:pPr>
            <a:r>
              <a:rPr lang="en-US" sz="4100">
                <a:solidFill>
                  <a:srgbClr val="000000"/>
                </a:solidFill>
                <a:latin typeface="Canva Sans Bold"/>
              </a:rPr>
              <a:t>pages visited by buyers vs. non-buyers 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276283" y="8456358"/>
            <a:ext cx="10297434" cy="1419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740"/>
              </a:lnSpc>
            </a:pPr>
            <a:r>
              <a:rPr lang="en-US" sz="4100">
                <a:solidFill>
                  <a:srgbClr val="000000"/>
                </a:solidFill>
                <a:latin typeface="Canva Sans Bold"/>
              </a:rPr>
              <a:t>Average number of </a:t>
            </a:r>
          </a:p>
          <a:p>
            <a:pPr algn="just">
              <a:lnSpc>
                <a:spcPts val="5740"/>
              </a:lnSpc>
            </a:pPr>
            <a:r>
              <a:rPr lang="en-US" sz="4100">
                <a:solidFill>
                  <a:srgbClr val="000000"/>
                </a:solidFill>
                <a:latin typeface="Canva Sans Bold"/>
              </a:rPr>
              <a:t>pages visited by males vs. females </a:t>
            </a:r>
          </a:p>
        </p:txBody>
      </p:sp>
      <p:sp>
        <p:nvSpPr>
          <p:cNvPr id="39" name="Freeform 39"/>
          <p:cNvSpPr/>
          <p:nvPr/>
        </p:nvSpPr>
        <p:spPr>
          <a:xfrm>
            <a:off x="823286" y="8675724"/>
            <a:ext cx="1247583" cy="1057327"/>
          </a:xfrm>
          <a:custGeom>
            <a:avLst/>
            <a:gdLst/>
            <a:ahLst/>
            <a:cxnLst/>
            <a:rect l="l" t="t" r="r" b="b"/>
            <a:pathLst>
              <a:path w="1247583" h="1057327">
                <a:moveTo>
                  <a:pt x="0" y="0"/>
                </a:moveTo>
                <a:lnTo>
                  <a:pt x="1247584" y="0"/>
                </a:lnTo>
                <a:lnTo>
                  <a:pt x="1247584" y="1057327"/>
                </a:lnTo>
                <a:lnTo>
                  <a:pt x="0" y="1057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CE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428634" y="4260430"/>
            <a:ext cx="5859366" cy="5978945"/>
          </a:xfrm>
          <a:custGeom>
            <a:avLst/>
            <a:gdLst/>
            <a:ahLst/>
            <a:cxnLst/>
            <a:rect l="l" t="t" r="r" b="b"/>
            <a:pathLst>
              <a:path w="5859366" h="5978945">
                <a:moveTo>
                  <a:pt x="0" y="0"/>
                </a:moveTo>
                <a:lnTo>
                  <a:pt x="5859366" y="0"/>
                </a:lnTo>
                <a:lnTo>
                  <a:pt x="5859366" y="5978945"/>
                </a:lnTo>
                <a:lnTo>
                  <a:pt x="0" y="59789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555" y="1714509"/>
            <a:ext cx="2535171" cy="2535171"/>
          </a:xfrm>
          <a:custGeom>
            <a:avLst/>
            <a:gdLst/>
            <a:ahLst/>
            <a:cxnLst/>
            <a:rect l="l" t="t" r="r" b="b"/>
            <a:pathLst>
              <a:path w="2535171" h="2535171">
                <a:moveTo>
                  <a:pt x="0" y="0"/>
                </a:moveTo>
                <a:lnTo>
                  <a:pt x="2535172" y="0"/>
                </a:lnTo>
                <a:lnTo>
                  <a:pt x="2535172" y="2535172"/>
                </a:lnTo>
                <a:lnTo>
                  <a:pt x="0" y="25351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555" y="3798133"/>
            <a:ext cx="2526736" cy="2526736"/>
          </a:xfrm>
          <a:custGeom>
            <a:avLst/>
            <a:gdLst/>
            <a:ahLst/>
            <a:cxnLst/>
            <a:rect l="l" t="t" r="r" b="b"/>
            <a:pathLst>
              <a:path w="2526736" h="2526736">
                <a:moveTo>
                  <a:pt x="0" y="0"/>
                </a:moveTo>
                <a:lnTo>
                  <a:pt x="2526737" y="0"/>
                </a:lnTo>
                <a:lnTo>
                  <a:pt x="2526737" y="2526736"/>
                </a:lnTo>
                <a:lnTo>
                  <a:pt x="0" y="25267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26262" y="5908130"/>
            <a:ext cx="2556554" cy="2556554"/>
          </a:xfrm>
          <a:custGeom>
            <a:avLst/>
            <a:gdLst/>
            <a:ahLst/>
            <a:cxnLst/>
            <a:rect l="l" t="t" r="r" b="b"/>
            <a:pathLst>
              <a:path w="2556554" h="2556554">
                <a:moveTo>
                  <a:pt x="0" y="0"/>
                </a:moveTo>
                <a:lnTo>
                  <a:pt x="2556554" y="0"/>
                </a:lnTo>
                <a:lnTo>
                  <a:pt x="2556554" y="2556554"/>
                </a:lnTo>
                <a:lnTo>
                  <a:pt x="0" y="25565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555" y="7990714"/>
            <a:ext cx="2535171" cy="2535171"/>
          </a:xfrm>
          <a:custGeom>
            <a:avLst/>
            <a:gdLst/>
            <a:ahLst/>
            <a:cxnLst/>
            <a:rect l="l" t="t" r="r" b="b"/>
            <a:pathLst>
              <a:path w="2535171" h="2535171">
                <a:moveTo>
                  <a:pt x="0" y="0"/>
                </a:moveTo>
                <a:lnTo>
                  <a:pt x="2535172" y="0"/>
                </a:lnTo>
                <a:lnTo>
                  <a:pt x="2535172" y="2535172"/>
                </a:lnTo>
                <a:lnTo>
                  <a:pt x="0" y="253517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402879" y="312418"/>
            <a:ext cx="12381191" cy="1194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79"/>
              </a:lnSpc>
              <a:spcBef>
                <a:spcPct val="0"/>
              </a:spcBef>
            </a:pPr>
            <a:r>
              <a:rPr lang="en-US" sz="6299">
                <a:solidFill>
                  <a:srgbClr val="000000"/>
                </a:solidFill>
                <a:latin typeface="Montserrat Classic Bold"/>
              </a:rPr>
              <a:t>A walk through the steps..........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14350" y="2392471"/>
            <a:ext cx="17259300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Canva Sans Bold"/>
              </a:rPr>
              <a:t>Sort the data by user id and timestamp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891730" y="4165180"/>
            <a:ext cx="18660736" cy="1811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Canva Sans Bold"/>
              </a:rPr>
              <a:t>Group the data by url and count the </a:t>
            </a:r>
          </a:p>
          <a:p>
            <a:pPr algn="just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Canva Sans Bold"/>
              </a:rPr>
              <a:t>number of distinct occurrences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891730" y="6758730"/>
            <a:ext cx="18660736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Canva Sans Bold"/>
              </a:rPr>
              <a:t>Filter out a random set of 5 users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891730" y="8305165"/>
            <a:ext cx="10096936" cy="1811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279"/>
              </a:lnSpc>
              <a:spcBef>
                <a:spcPct val="0"/>
              </a:spcBef>
            </a:pPr>
            <a:r>
              <a:rPr lang="en-US" sz="5199">
                <a:solidFill>
                  <a:srgbClr val="000000"/>
                </a:solidFill>
                <a:latin typeface="Canva Sans Bold"/>
              </a:rPr>
              <a:t>Apply the aggregate function </a:t>
            </a:r>
          </a:p>
          <a:p>
            <a:pPr algn="just">
              <a:lnSpc>
                <a:spcPts val="7279"/>
              </a:lnSpc>
              <a:spcBef>
                <a:spcPct val="0"/>
              </a:spcBef>
            </a:pPr>
            <a:r>
              <a:rPr lang="en-US" sz="5199">
                <a:solidFill>
                  <a:srgbClr val="000000"/>
                </a:solidFill>
                <a:latin typeface="Canva Sans Bold"/>
              </a:rPr>
              <a:t>on the time series object</a:t>
            </a: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E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22820" y="2059026"/>
            <a:ext cx="1816024" cy="1816024"/>
          </a:xfrm>
          <a:custGeom>
            <a:avLst/>
            <a:gdLst/>
            <a:ahLst/>
            <a:cxnLst/>
            <a:rect l="l" t="t" r="r" b="b"/>
            <a:pathLst>
              <a:path w="1816024" h="1816024">
                <a:moveTo>
                  <a:pt x="0" y="0"/>
                </a:moveTo>
                <a:lnTo>
                  <a:pt x="1816024" y="0"/>
                </a:lnTo>
                <a:lnTo>
                  <a:pt x="1816024" y="1816025"/>
                </a:lnTo>
                <a:lnTo>
                  <a:pt x="0" y="18160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22820" y="5262130"/>
            <a:ext cx="1816024" cy="1816024"/>
          </a:xfrm>
          <a:custGeom>
            <a:avLst/>
            <a:gdLst/>
            <a:ahLst/>
            <a:cxnLst/>
            <a:rect l="l" t="t" r="r" b="b"/>
            <a:pathLst>
              <a:path w="1816024" h="1816024">
                <a:moveTo>
                  <a:pt x="0" y="0"/>
                </a:moveTo>
                <a:lnTo>
                  <a:pt x="1816024" y="0"/>
                </a:lnTo>
                <a:lnTo>
                  <a:pt x="1816024" y="1816024"/>
                </a:lnTo>
                <a:lnTo>
                  <a:pt x="0" y="18160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42068" y="8076867"/>
            <a:ext cx="1796776" cy="1796776"/>
          </a:xfrm>
          <a:custGeom>
            <a:avLst/>
            <a:gdLst/>
            <a:ahLst/>
            <a:cxnLst/>
            <a:rect l="l" t="t" r="r" b="b"/>
            <a:pathLst>
              <a:path w="1796776" h="1796776">
                <a:moveTo>
                  <a:pt x="0" y="0"/>
                </a:moveTo>
                <a:lnTo>
                  <a:pt x="1796776" y="0"/>
                </a:lnTo>
                <a:lnTo>
                  <a:pt x="1796776" y="1796776"/>
                </a:lnTo>
                <a:lnTo>
                  <a:pt x="0" y="17967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317919" y="2279420"/>
            <a:ext cx="1941328" cy="1941328"/>
          </a:xfrm>
          <a:custGeom>
            <a:avLst/>
            <a:gdLst/>
            <a:ahLst/>
            <a:cxnLst/>
            <a:rect l="l" t="t" r="r" b="b"/>
            <a:pathLst>
              <a:path w="1941328" h="1941328">
                <a:moveTo>
                  <a:pt x="0" y="0"/>
                </a:moveTo>
                <a:lnTo>
                  <a:pt x="1941328" y="0"/>
                </a:lnTo>
                <a:lnTo>
                  <a:pt x="1941328" y="1941328"/>
                </a:lnTo>
                <a:lnTo>
                  <a:pt x="0" y="19413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353550" y="5143500"/>
            <a:ext cx="1905697" cy="1905697"/>
          </a:xfrm>
          <a:custGeom>
            <a:avLst/>
            <a:gdLst/>
            <a:ahLst/>
            <a:cxnLst/>
            <a:rect l="l" t="t" r="r" b="b"/>
            <a:pathLst>
              <a:path w="1905697" h="1905697">
                <a:moveTo>
                  <a:pt x="0" y="0"/>
                </a:moveTo>
                <a:lnTo>
                  <a:pt x="1905697" y="0"/>
                </a:lnTo>
                <a:lnTo>
                  <a:pt x="1905697" y="1905697"/>
                </a:lnTo>
                <a:lnTo>
                  <a:pt x="0" y="190569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396599" y="8076867"/>
            <a:ext cx="1941328" cy="1941328"/>
          </a:xfrm>
          <a:custGeom>
            <a:avLst/>
            <a:gdLst/>
            <a:ahLst/>
            <a:cxnLst/>
            <a:rect l="l" t="t" r="r" b="b"/>
            <a:pathLst>
              <a:path w="1941328" h="1941328">
                <a:moveTo>
                  <a:pt x="0" y="0"/>
                </a:moveTo>
                <a:lnTo>
                  <a:pt x="1941328" y="0"/>
                </a:lnTo>
                <a:lnTo>
                  <a:pt x="1941328" y="1941327"/>
                </a:lnTo>
                <a:lnTo>
                  <a:pt x="0" y="194132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430832" y="283843"/>
            <a:ext cx="14472167" cy="1278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19"/>
              </a:lnSpc>
              <a:spcBef>
                <a:spcPct val="0"/>
              </a:spcBef>
            </a:pPr>
            <a:r>
              <a:rPr lang="en-US" sz="6699">
                <a:solidFill>
                  <a:srgbClr val="000000"/>
                </a:solidFill>
                <a:latin typeface="Montserrat Classic Bold"/>
              </a:rPr>
              <a:t>Top Most Website Landing Pages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551629" y="2760193"/>
            <a:ext cx="6362624" cy="489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88"/>
              </a:lnSpc>
            </a:pPr>
            <a:r>
              <a:rPr lang="en-US" sz="3725">
                <a:solidFill>
                  <a:srgbClr val="CE2045"/>
                </a:solidFill>
                <a:latin typeface="Chewy"/>
              </a:rPr>
              <a:t>http://www.RL.com/(homepage)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551629" y="5963297"/>
            <a:ext cx="6592371" cy="489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88"/>
              </a:lnSpc>
            </a:pPr>
            <a:r>
              <a:rPr lang="en-US" sz="3725">
                <a:solidFill>
                  <a:srgbClr val="CE2045"/>
                </a:solidFill>
                <a:latin typeface="Chewy"/>
              </a:rPr>
              <a:t>http://www.RL.com/product/4003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603123" y="8882062"/>
            <a:ext cx="6489382" cy="489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88"/>
              </a:lnSpc>
            </a:pPr>
            <a:r>
              <a:rPr lang="en-US" sz="3725">
                <a:solidFill>
                  <a:srgbClr val="CE2045"/>
                </a:solidFill>
                <a:latin typeface="Chewy"/>
              </a:rPr>
              <a:t>http://www.RL.com/product/4001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467190" y="3043239"/>
            <a:ext cx="6604873" cy="489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88"/>
              </a:lnSpc>
            </a:pPr>
            <a:r>
              <a:rPr lang="en-US" sz="3725">
                <a:solidFill>
                  <a:srgbClr val="CE2045"/>
                </a:solidFill>
                <a:latin typeface="Chewy"/>
              </a:rPr>
              <a:t>http://www.RL.com/product/4005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68797" y="5963297"/>
            <a:ext cx="6601659" cy="489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88"/>
              </a:lnSpc>
            </a:pPr>
            <a:r>
              <a:rPr lang="en-US" sz="3725">
                <a:solidFill>
                  <a:srgbClr val="CE2045"/>
                </a:solidFill>
                <a:latin typeface="Chewy"/>
              </a:rPr>
              <a:t>http://www.RL.com/product/4002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604627" y="8882062"/>
            <a:ext cx="6613207" cy="489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88"/>
              </a:lnSpc>
            </a:pPr>
            <a:r>
              <a:rPr lang="en-US" sz="3725">
                <a:solidFill>
                  <a:srgbClr val="CE2045"/>
                </a:solidFill>
                <a:latin typeface="Chewy"/>
              </a:rPr>
              <a:t>http://www.RL.com/product/4004</a:t>
            </a:r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E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586708" y="3197052"/>
            <a:ext cx="1774443" cy="791845"/>
          </a:xfrm>
          <a:custGeom>
            <a:avLst/>
            <a:gdLst/>
            <a:ahLst/>
            <a:cxnLst/>
            <a:rect l="l" t="t" r="r" b="b"/>
            <a:pathLst>
              <a:path w="1774443" h="791845">
                <a:moveTo>
                  <a:pt x="0" y="0"/>
                </a:moveTo>
                <a:lnTo>
                  <a:pt x="1774443" y="0"/>
                </a:lnTo>
                <a:lnTo>
                  <a:pt x="1774443" y="791845"/>
                </a:lnTo>
                <a:lnTo>
                  <a:pt x="0" y="7918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34704" y="3101802"/>
            <a:ext cx="4102775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sz="5199">
                <a:solidFill>
                  <a:srgbClr val="000000"/>
                </a:solidFill>
                <a:latin typeface="Canva Sans Bold"/>
              </a:rPr>
              <a:t>review/3002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-127000" y="-193680"/>
            <a:ext cx="18288000" cy="2631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19"/>
              </a:lnSpc>
              <a:spcBef>
                <a:spcPct val="0"/>
              </a:spcBef>
            </a:pPr>
            <a:r>
              <a:rPr lang="en-US" sz="6699">
                <a:solidFill>
                  <a:srgbClr val="000000"/>
                </a:solidFill>
                <a:latin typeface="Montserrat Classic Bold"/>
              </a:rPr>
              <a:t>Sequence of Pages Visited by Random Users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77059" y="3101802"/>
            <a:ext cx="3389233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sz="5199">
                <a:solidFill>
                  <a:srgbClr val="000000"/>
                </a:solidFill>
                <a:latin typeface="Canva Sans Bold"/>
              </a:rPr>
              <a:t>homepage</a:t>
            </a:r>
          </a:p>
        </p:txBody>
      </p:sp>
      <p:sp>
        <p:nvSpPr>
          <p:cNvPr id="6" name="Freeform 6"/>
          <p:cNvSpPr/>
          <p:nvPr/>
        </p:nvSpPr>
        <p:spPr>
          <a:xfrm>
            <a:off x="10585392" y="3433907"/>
            <a:ext cx="1774443" cy="791845"/>
          </a:xfrm>
          <a:custGeom>
            <a:avLst/>
            <a:gdLst/>
            <a:ahLst/>
            <a:cxnLst/>
            <a:rect l="l" t="t" r="r" b="b"/>
            <a:pathLst>
              <a:path w="1774443" h="791845">
                <a:moveTo>
                  <a:pt x="0" y="0"/>
                </a:moveTo>
                <a:lnTo>
                  <a:pt x="1774443" y="0"/>
                </a:lnTo>
                <a:lnTo>
                  <a:pt x="1774443" y="791845"/>
                </a:lnTo>
                <a:lnTo>
                  <a:pt x="0" y="7918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2778935" y="3338657"/>
            <a:ext cx="4576048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sz="5199">
                <a:solidFill>
                  <a:srgbClr val="000000"/>
                </a:solidFill>
                <a:latin typeface="Canva Sans Bold"/>
              </a:rPr>
              <a:t>product/4002</a:t>
            </a:r>
          </a:p>
        </p:txBody>
      </p:sp>
      <p:sp>
        <p:nvSpPr>
          <p:cNvPr id="8" name="Freeform 8"/>
          <p:cNvSpPr/>
          <p:nvPr/>
        </p:nvSpPr>
        <p:spPr>
          <a:xfrm rot="5400000">
            <a:off x="14518732" y="5428535"/>
            <a:ext cx="3149716" cy="1405561"/>
          </a:xfrm>
          <a:custGeom>
            <a:avLst/>
            <a:gdLst/>
            <a:ahLst/>
            <a:cxnLst/>
            <a:rect l="l" t="t" r="r" b="b"/>
            <a:pathLst>
              <a:path w="3149716" h="1405561">
                <a:moveTo>
                  <a:pt x="0" y="0"/>
                </a:moveTo>
                <a:lnTo>
                  <a:pt x="3149715" y="0"/>
                </a:lnTo>
                <a:lnTo>
                  <a:pt x="3149715" y="1405560"/>
                </a:lnTo>
                <a:lnTo>
                  <a:pt x="0" y="14055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3767108" y="7941628"/>
            <a:ext cx="4102775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sz="5199">
                <a:solidFill>
                  <a:srgbClr val="000000"/>
                </a:solidFill>
                <a:latin typeface="Canva Sans Bold"/>
              </a:rPr>
              <a:t>review/3002</a:t>
            </a:r>
          </a:p>
        </p:txBody>
      </p:sp>
      <p:sp>
        <p:nvSpPr>
          <p:cNvPr id="10" name="Freeform 10"/>
          <p:cNvSpPr/>
          <p:nvPr/>
        </p:nvSpPr>
        <p:spPr>
          <a:xfrm rot="10705609">
            <a:off x="11135614" y="8270225"/>
            <a:ext cx="2148490" cy="958763"/>
          </a:xfrm>
          <a:custGeom>
            <a:avLst/>
            <a:gdLst/>
            <a:ahLst/>
            <a:cxnLst/>
            <a:rect l="l" t="t" r="r" b="b"/>
            <a:pathLst>
              <a:path w="2148490" h="958763">
                <a:moveTo>
                  <a:pt x="0" y="0"/>
                </a:moveTo>
                <a:lnTo>
                  <a:pt x="2148490" y="0"/>
                </a:lnTo>
                <a:lnTo>
                  <a:pt x="2148490" y="958764"/>
                </a:lnTo>
                <a:lnTo>
                  <a:pt x="0" y="9587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7138610" y="8371205"/>
            <a:ext cx="3756779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sz="5199">
                <a:solidFill>
                  <a:srgbClr val="000000"/>
                </a:solidFill>
                <a:latin typeface="Canva Sans Bold"/>
              </a:rPr>
              <a:t>video/3002</a:t>
            </a:r>
          </a:p>
        </p:txBody>
      </p:sp>
      <p:sp>
        <p:nvSpPr>
          <p:cNvPr id="12" name="Freeform 12"/>
          <p:cNvSpPr/>
          <p:nvPr/>
        </p:nvSpPr>
        <p:spPr>
          <a:xfrm rot="10705609">
            <a:off x="5130731" y="8466455"/>
            <a:ext cx="1774443" cy="791845"/>
          </a:xfrm>
          <a:custGeom>
            <a:avLst/>
            <a:gdLst/>
            <a:ahLst/>
            <a:cxnLst/>
            <a:rect l="l" t="t" r="r" b="b"/>
            <a:pathLst>
              <a:path w="1774443" h="791845">
                <a:moveTo>
                  <a:pt x="0" y="0"/>
                </a:moveTo>
                <a:lnTo>
                  <a:pt x="1774443" y="0"/>
                </a:lnTo>
                <a:lnTo>
                  <a:pt x="1774443" y="791845"/>
                </a:lnTo>
                <a:lnTo>
                  <a:pt x="0" y="7918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72478" y="8371205"/>
            <a:ext cx="4618911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sz="5199">
                <a:solidFill>
                  <a:srgbClr val="000000"/>
                </a:solidFill>
                <a:latin typeface="Canva Sans Bold"/>
              </a:rPr>
              <a:t>product/4004</a:t>
            </a:r>
          </a:p>
        </p:txBody>
      </p:sp>
      <p:sp>
        <p:nvSpPr>
          <p:cNvPr id="14" name="Freeform 14"/>
          <p:cNvSpPr/>
          <p:nvPr/>
        </p:nvSpPr>
        <p:spPr>
          <a:xfrm rot="-4670983">
            <a:off x="581983" y="7116592"/>
            <a:ext cx="1734392" cy="773973"/>
          </a:xfrm>
          <a:custGeom>
            <a:avLst/>
            <a:gdLst/>
            <a:ahLst/>
            <a:cxnLst/>
            <a:rect l="l" t="t" r="r" b="b"/>
            <a:pathLst>
              <a:path w="1734392" h="773973">
                <a:moveTo>
                  <a:pt x="0" y="0"/>
                </a:moveTo>
                <a:lnTo>
                  <a:pt x="1734393" y="0"/>
                </a:lnTo>
                <a:lnTo>
                  <a:pt x="1734393" y="773973"/>
                </a:lnTo>
                <a:lnTo>
                  <a:pt x="0" y="7739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674684" y="5736504"/>
            <a:ext cx="1352431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sz="5199">
                <a:solidFill>
                  <a:srgbClr val="000000"/>
                </a:solidFill>
                <a:latin typeface="Canva Sans Bold"/>
              </a:rPr>
              <a:t>exit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780356" y="5163097"/>
            <a:ext cx="11286603" cy="1411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70"/>
              </a:lnSpc>
            </a:pPr>
            <a:r>
              <a:rPr lang="en-US" sz="4050">
                <a:solidFill>
                  <a:srgbClr val="F7344C"/>
                </a:solidFill>
                <a:latin typeface="Canva Sans Bold"/>
              </a:rPr>
              <a:t>User ID</a:t>
            </a:r>
          </a:p>
          <a:p>
            <a:pPr algn="ctr">
              <a:lnSpc>
                <a:spcPts val="5670"/>
              </a:lnSpc>
              <a:spcBef>
                <a:spcPct val="0"/>
              </a:spcBef>
            </a:pPr>
            <a:r>
              <a:rPr lang="en-US" sz="4050">
                <a:solidFill>
                  <a:srgbClr val="F7344C"/>
                </a:solidFill>
                <a:latin typeface="Canva Sans Bold"/>
              </a:rPr>
              <a:t>26B45553-8BE2-4AB0-ABE5-ACDB78B76410</a:t>
            </a:r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E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9664" y="4869381"/>
            <a:ext cx="3594126" cy="5223845"/>
            <a:chOff x="0" y="0"/>
            <a:chExt cx="4792168" cy="6965126"/>
          </a:xfrm>
        </p:grpSpPr>
        <p:sp>
          <p:nvSpPr>
            <p:cNvPr id="3" name="Freeform 3"/>
            <p:cNvSpPr/>
            <p:nvPr/>
          </p:nvSpPr>
          <p:spPr>
            <a:xfrm>
              <a:off x="0" y="1124356"/>
              <a:ext cx="3712378" cy="5840770"/>
            </a:xfrm>
            <a:custGeom>
              <a:avLst/>
              <a:gdLst/>
              <a:ahLst/>
              <a:cxnLst/>
              <a:rect l="l" t="t" r="r" b="b"/>
              <a:pathLst>
                <a:path w="3712378" h="5840770">
                  <a:moveTo>
                    <a:pt x="0" y="0"/>
                  </a:moveTo>
                  <a:lnTo>
                    <a:pt x="3712378" y="0"/>
                  </a:lnTo>
                  <a:lnTo>
                    <a:pt x="3712378" y="5840770"/>
                  </a:lnTo>
                  <a:lnTo>
                    <a:pt x="0" y="5840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3712378" y="0"/>
              <a:ext cx="1079790" cy="1698859"/>
            </a:xfrm>
            <a:custGeom>
              <a:avLst/>
              <a:gdLst/>
              <a:ahLst/>
              <a:cxnLst/>
              <a:rect l="l" t="t" r="r" b="b"/>
              <a:pathLst>
                <a:path w="1079790" h="1698859">
                  <a:moveTo>
                    <a:pt x="0" y="0"/>
                  </a:moveTo>
                  <a:lnTo>
                    <a:pt x="1079790" y="0"/>
                  </a:lnTo>
                  <a:lnTo>
                    <a:pt x="1079790" y="1698859"/>
                  </a:lnTo>
                  <a:lnTo>
                    <a:pt x="0" y="16988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15722861" y="572622"/>
            <a:ext cx="2167243" cy="5974075"/>
            <a:chOff x="0" y="0"/>
            <a:chExt cx="2889658" cy="79654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89658" cy="4546365"/>
            </a:xfrm>
            <a:custGeom>
              <a:avLst/>
              <a:gdLst/>
              <a:ahLst/>
              <a:cxnLst/>
              <a:rect l="l" t="t" r="r" b="b"/>
              <a:pathLst>
                <a:path w="2889658" h="4546365">
                  <a:moveTo>
                    <a:pt x="0" y="0"/>
                  </a:moveTo>
                  <a:lnTo>
                    <a:pt x="2889658" y="0"/>
                  </a:lnTo>
                  <a:lnTo>
                    <a:pt x="2889658" y="4546365"/>
                  </a:lnTo>
                  <a:lnTo>
                    <a:pt x="0" y="4546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773143" y="6266575"/>
              <a:ext cx="1079790" cy="1698859"/>
            </a:xfrm>
            <a:custGeom>
              <a:avLst/>
              <a:gdLst/>
              <a:ahLst/>
              <a:cxnLst/>
              <a:rect l="l" t="t" r="r" b="b"/>
              <a:pathLst>
                <a:path w="1079790" h="1698859">
                  <a:moveTo>
                    <a:pt x="0" y="0"/>
                  </a:moveTo>
                  <a:lnTo>
                    <a:pt x="1079790" y="0"/>
                  </a:lnTo>
                  <a:lnTo>
                    <a:pt x="1079790" y="1698858"/>
                  </a:lnTo>
                  <a:lnTo>
                    <a:pt x="0" y="1698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2877010" y="193774"/>
            <a:ext cx="10066203" cy="6731773"/>
          </a:xfrm>
          <a:custGeom>
            <a:avLst/>
            <a:gdLst/>
            <a:ahLst/>
            <a:cxnLst/>
            <a:rect l="l" t="t" r="r" b="b"/>
            <a:pathLst>
              <a:path w="10066203" h="6731773">
                <a:moveTo>
                  <a:pt x="0" y="0"/>
                </a:moveTo>
                <a:lnTo>
                  <a:pt x="10066202" y="0"/>
                </a:lnTo>
                <a:lnTo>
                  <a:pt x="10066202" y="6731773"/>
                </a:lnTo>
                <a:lnTo>
                  <a:pt x="0" y="67317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6281440" y="8148221"/>
            <a:ext cx="1073492" cy="736684"/>
          </a:xfrm>
          <a:custGeom>
            <a:avLst/>
            <a:gdLst/>
            <a:ahLst/>
            <a:cxnLst/>
            <a:rect l="l" t="t" r="r" b="b"/>
            <a:pathLst>
              <a:path w="1073492" h="736684">
                <a:moveTo>
                  <a:pt x="0" y="0"/>
                </a:moveTo>
                <a:lnTo>
                  <a:pt x="1073492" y="0"/>
                </a:lnTo>
                <a:lnTo>
                  <a:pt x="1073492" y="736684"/>
                </a:lnTo>
                <a:lnTo>
                  <a:pt x="0" y="7366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338806" y="2661924"/>
            <a:ext cx="5821321" cy="2302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93"/>
              </a:lnSpc>
            </a:pPr>
            <a:r>
              <a:rPr lang="en-US" sz="4875" spc="487">
                <a:solidFill>
                  <a:srgbClr val="000000"/>
                </a:solidFill>
                <a:latin typeface="League Spartan"/>
              </a:rPr>
              <a:t>AVERAGE NUMBER OF PAGES VISITED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508982" y="7832394"/>
            <a:ext cx="2772458" cy="12277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031"/>
              </a:lnSpc>
            </a:pPr>
            <a:r>
              <a:rPr lang="en-US" sz="7165" dirty="0">
                <a:solidFill>
                  <a:srgbClr val="000000"/>
                </a:solidFill>
                <a:latin typeface="Quicksand"/>
              </a:rPr>
              <a:t>1.652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848962" y="9163050"/>
            <a:ext cx="3310942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dirty="0">
                <a:solidFill>
                  <a:srgbClr val="000000"/>
                </a:solidFill>
                <a:latin typeface="Canva Sans Bold"/>
              </a:rPr>
              <a:t>Buyers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271657" y="7659443"/>
            <a:ext cx="2056448" cy="1227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31"/>
              </a:lnSpc>
            </a:pPr>
            <a:r>
              <a:rPr lang="en-US" sz="7165">
                <a:solidFill>
                  <a:srgbClr val="000000"/>
                </a:solidFill>
                <a:latin typeface="Quicksand"/>
              </a:rPr>
              <a:t>8.516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660318" y="7832394"/>
            <a:ext cx="499586" cy="1227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31"/>
              </a:lnSpc>
            </a:pPr>
            <a:r>
              <a:rPr lang="en-US" sz="7165">
                <a:solidFill>
                  <a:srgbClr val="000000"/>
                </a:solidFill>
                <a:latin typeface="Quicksand"/>
              </a:rPr>
              <a:t>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081426" y="8964852"/>
            <a:ext cx="3848933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Canva Sans Bold"/>
              </a:rPr>
              <a:t>Non-Buyers</a:t>
            </a:r>
          </a:p>
        </p:txBody>
      </p:sp>
      <p:sp>
        <p:nvSpPr>
          <p:cNvPr id="16" name="Freeform 16"/>
          <p:cNvSpPr/>
          <p:nvPr/>
        </p:nvSpPr>
        <p:spPr>
          <a:xfrm>
            <a:off x="15055386" y="7975269"/>
            <a:ext cx="1073492" cy="736684"/>
          </a:xfrm>
          <a:custGeom>
            <a:avLst/>
            <a:gdLst/>
            <a:ahLst/>
            <a:cxnLst/>
            <a:rect l="l" t="t" r="r" b="b"/>
            <a:pathLst>
              <a:path w="1073492" h="736684">
                <a:moveTo>
                  <a:pt x="0" y="0"/>
                </a:moveTo>
                <a:lnTo>
                  <a:pt x="1073492" y="0"/>
                </a:lnTo>
                <a:lnTo>
                  <a:pt x="1073492" y="736684"/>
                </a:lnTo>
                <a:lnTo>
                  <a:pt x="0" y="7366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6680090" y="7625910"/>
            <a:ext cx="500539" cy="1227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31"/>
              </a:lnSpc>
            </a:pPr>
            <a:r>
              <a:rPr lang="en-US" sz="7165">
                <a:solidFill>
                  <a:srgbClr val="000000"/>
                </a:solidFill>
                <a:latin typeface="Quicksand"/>
              </a:rPr>
              <a:t>9</a:t>
            </a:r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E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0039" y="4964593"/>
            <a:ext cx="3594126" cy="5223845"/>
            <a:chOff x="0" y="0"/>
            <a:chExt cx="4792168" cy="6965126"/>
          </a:xfrm>
        </p:grpSpPr>
        <p:sp>
          <p:nvSpPr>
            <p:cNvPr id="3" name="Freeform 3"/>
            <p:cNvSpPr/>
            <p:nvPr/>
          </p:nvSpPr>
          <p:spPr>
            <a:xfrm>
              <a:off x="0" y="1124356"/>
              <a:ext cx="3712378" cy="5840770"/>
            </a:xfrm>
            <a:custGeom>
              <a:avLst/>
              <a:gdLst/>
              <a:ahLst/>
              <a:cxnLst/>
              <a:rect l="l" t="t" r="r" b="b"/>
              <a:pathLst>
                <a:path w="3712378" h="5840770">
                  <a:moveTo>
                    <a:pt x="0" y="0"/>
                  </a:moveTo>
                  <a:lnTo>
                    <a:pt x="3712378" y="0"/>
                  </a:lnTo>
                  <a:lnTo>
                    <a:pt x="3712378" y="5840770"/>
                  </a:lnTo>
                  <a:lnTo>
                    <a:pt x="0" y="5840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3712378" y="0"/>
              <a:ext cx="1079790" cy="1698859"/>
            </a:xfrm>
            <a:custGeom>
              <a:avLst/>
              <a:gdLst/>
              <a:ahLst/>
              <a:cxnLst/>
              <a:rect l="l" t="t" r="r" b="b"/>
              <a:pathLst>
                <a:path w="1079790" h="1698859">
                  <a:moveTo>
                    <a:pt x="0" y="0"/>
                  </a:moveTo>
                  <a:lnTo>
                    <a:pt x="1079790" y="0"/>
                  </a:lnTo>
                  <a:lnTo>
                    <a:pt x="1079790" y="1698859"/>
                  </a:lnTo>
                  <a:lnTo>
                    <a:pt x="0" y="16988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15955480" y="1104900"/>
            <a:ext cx="2167243" cy="5974075"/>
            <a:chOff x="0" y="0"/>
            <a:chExt cx="2889658" cy="79654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89658" cy="4546365"/>
            </a:xfrm>
            <a:custGeom>
              <a:avLst/>
              <a:gdLst/>
              <a:ahLst/>
              <a:cxnLst/>
              <a:rect l="l" t="t" r="r" b="b"/>
              <a:pathLst>
                <a:path w="2889658" h="4546365">
                  <a:moveTo>
                    <a:pt x="0" y="0"/>
                  </a:moveTo>
                  <a:lnTo>
                    <a:pt x="2889658" y="0"/>
                  </a:lnTo>
                  <a:lnTo>
                    <a:pt x="2889658" y="4546365"/>
                  </a:lnTo>
                  <a:lnTo>
                    <a:pt x="0" y="4546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773143" y="6266575"/>
              <a:ext cx="1079790" cy="1698859"/>
            </a:xfrm>
            <a:custGeom>
              <a:avLst/>
              <a:gdLst/>
              <a:ahLst/>
              <a:cxnLst/>
              <a:rect l="l" t="t" r="r" b="b"/>
              <a:pathLst>
                <a:path w="1079790" h="1698859">
                  <a:moveTo>
                    <a:pt x="0" y="0"/>
                  </a:moveTo>
                  <a:lnTo>
                    <a:pt x="1079790" y="0"/>
                  </a:lnTo>
                  <a:lnTo>
                    <a:pt x="1079790" y="1698858"/>
                  </a:lnTo>
                  <a:lnTo>
                    <a:pt x="0" y="1698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2877010" y="193774"/>
            <a:ext cx="10066203" cy="6731773"/>
          </a:xfrm>
          <a:custGeom>
            <a:avLst/>
            <a:gdLst/>
            <a:ahLst/>
            <a:cxnLst/>
            <a:rect l="l" t="t" r="r" b="b"/>
            <a:pathLst>
              <a:path w="10066203" h="6731773">
                <a:moveTo>
                  <a:pt x="0" y="0"/>
                </a:moveTo>
                <a:lnTo>
                  <a:pt x="10066202" y="0"/>
                </a:lnTo>
                <a:lnTo>
                  <a:pt x="10066202" y="6731773"/>
                </a:lnTo>
                <a:lnTo>
                  <a:pt x="0" y="67317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6281440" y="8148221"/>
            <a:ext cx="1073492" cy="736684"/>
          </a:xfrm>
          <a:custGeom>
            <a:avLst/>
            <a:gdLst/>
            <a:ahLst/>
            <a:cxnLst/>
            <a:rect l="l" t="t" r="r" b="b"/>
            <a:pathLst>
              <a:path w="1073492" h="736684">
                <a:moveTo>
                  <a:pt x="0" y="0"/>
                </a:moveTo>
                <a:lnTo>
                  <a:pt x="1073492" y="0"/>
                </a:lnTo>
                <a:lnTo>
                  <a:pt x="1073492" y="736684"/>
                </a:lnTo>
                <a:lnTo>
                  <a:pt x="0" y="7366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338806" y="2661924"/>
            <a:ext cx="5821321" cy="2302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93"/>
              </a:lnSpc>
            </a:pPr>
            <a:r>
              <a:rPr lang="en-US" sz="4875" spc="487">
                <a:solidFill>
                  <a:srgbClr val="000000"/>
                </a:solidFill>
                <a:latin typeface="League Spartan"/>
              </a:rPr>
              <a:t>AVERAGE NUMBER OF PAGES VISITED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238710" y="7832394"/>
            <a:ext cx="2570559" cy="1227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31"/>
              </a:lnSpc>
            </a:pPr>
            <a:r>
              <a:rPr lang="en-US" sz="7165">
                <a:solidFill>
                  <a:srgbClr val="000000"/>
                </a:solidFill>
                <a:latin typeface="Quicksand"/>
              </a:rPr>
              <a:t>10.378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021662" y="9163050"/>
            <a:ext cx="2570559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dirty="0">
                <a:solidFill>
                  <a:srgbClr val="000000"/>
                </a:solidFill>
                <a:latin typeface="Canva Sans Bold"/>
              </a:rPr>
              <a:t>Males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015494" y="7659443"/>
            <a:ext cx="2568773" cy="1227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31"/>
              </a:lnSpc>
            </a:pPr>
            <a:r>
              <a:rPr lang="en-US" sz="7165">
                <a:solidFill>
                  <a:srgbClr val="000000"/>
                </a:solidFill>
                <a:latin typeface="Quicksand"/>
              </a:rPr>
              <a:t>10.727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814055" y="7832394"/>
            <a:ext cx="870823" cy="1227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31"/>
              </a:lnSpc>
            </a:pPr>
            <a:r>
              <a:rPr lang="en-US" sz="7165">
                <a:solidFill>
                  <a:srgbClr val="000000"/>
                </a:solidFill>
                <a:latin typeface="Quicksand"/>
              </a:rPr>
              <a:t>10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667450" y="8964852"/>
            <a:ext cx="3172749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dirty="0">
                <a:solidFill>
                  <a:srgbClr val="000000"/>
                </a:solidFill>
                <a:latin typeface="Canva Sans Bold"/>
              </a:rPr>
              <a:t>Females</a:t>
            </a:r>
          </a:p>
        </p:txBody>
      </p:sp>
      <p:sp>
        <p:nvSpPr>
          <p:cNvPr id="16" name="Freeform 16"/>
          <p:cNvSpPr/>
          <p:nvPr/>
        </p:nvSpPr>
        <p:spPr>
          <a:xfrm>
            <a:off x="15055386" y="7975269"/>
            <a:ext cx="1073492" cy="736684"/>
          </a:xfrm>
          <a:custGeom>
            <a:avLst/>
            <a:gdLst/>
            <a:ahLst/>
            <a:cxnLst/>
            <a:rect l="l" t="t" r="r" b="b"/>
            <a:pathLst>
              <a:path w="1073492" h="736684">
                <a:moveTo>
                  <a:pt x="0" y="0"/>
                </a:moveTo>
                <a:lnTo>
                  <a:pt x="1073492" y="0"/>
                </a:lnTo>
                <a:lnTo>
                  <a:pt x="1073492" y="736684"/>
                </a:lnTo>
                <a:lnTo>
                  <a:pt x="0" y="7366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6610974" y="7625910"/>
            <a:ext cx="638770" cy="1227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31"/>
              </a:lnSpc>
            </a:pPr>
            <a:r>
              <a:rPr lang="en-US" sz="7165">
                <a:solidFill>
                  <a:srgbClr val="000000"/>
                </a:solidFill>
                <a:latin typeface="Quicksand"/>
              </a:rPr>
              <a:t>11</a:t>
            </a:r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E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28600" y="5958160"/>
            <a:ext cx="2784283" cy="4380577"/>
          </a:xfrm>
          <a:custGeom>
            <a:avLst/>
            <a:gdLst/>
            <a:ahLst/>
            <a:cxnLst/>
            <a:rect l="l" t="t" r="r" b="b"/>
            <a:pathLst>
              <a:path w="2784283" h="4380577">
                <a:moveTo>
                  <a:pt x="0" y="0"/>
                </a:moveTo>
                <a:lnTo>
                  <a:pt x="2784283" y="0"/>
                </a:lnTo>
                <a:lnTo>
                  <a:pt x="2784283" y="4380577"/>
                </a:lnTo>
                <a:lnTo>
                  <a:pt x="0" y="43805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120757" y="114300"/>
            <a:ext cx="2167243" cy="3409774"/>
          </a:xfrm>
          <a:custGeom>
            <a:avLst/>
            <a:gdLst/>
            <a:ahLst/>
            <a:cxnLst/>
            <a:rect l="l" t="t" r="r" b="b"/>
            <a:pathLst>
              <a:path w="2167243" h="3409774">
                <a:moveTo>
                  <a:pt x="0" y="0"/>
                </a:moveTo>
                <a:lnTo>
                  <a:pt x="2167244" y="0"/>
                </a:lnTo>
                <a:lnTo>
                  <a:pt x="2167244" y="3409774"/>
                </a:lnTo>
                <a:lnTo>
                  <a:pt x="0" y="34097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2437934" y="2658021"/>
            <a:ext cx="15249715" cy="6600279"/>
            <a:chOff x="-57771" y="0"/>
            <a:chExt cx="4016386" cy="173834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958615" cy="1738345"/>
            </a:xfrm>
            <a:custGeom>
              <a:avLst/>
              <a:gdLst/>
              <a:ahLst/>
              <a:cxnLst/>
              <a:rect l="l" t="t" r="r" b="b"/>
              <a:pathLst>
                <a:path w="3958615" h="1738345">
                  <a:moveTo>
                    <a:pt x="0" y="0"/>
                  </a:moveTo>
                  <a:lnTo>
                    <a:pt x="3958615" y="0"/>
                  </a:lnTo>
                  <a:lnTo>
                    <a:pt x="3958615" y="1738345"/>
                  </a:lnTo>
                  <a:lnTo>
                    <a:pt x="0" y="1738345"/>
                  </a:lnTo>
                  <a:close/>
                </a:path>
              </a:pathLst>
            </a:custGeom>
            <a:solidFill>
              <a:srgbClr val="F4EAD2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-57771" y="393141"/>
              <a:ext cx="4016386" cy="936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711600" lvl="1" indent="-355800" algn="ctr">
                <a:lnSpc>
                  <a:spcPts val="5273"/>
                </a:lnSpc>
                <a:buFont typeface="Arial"/>
                <a:buChar char="•"/>
              </a:pPr>
              <a:r>
                <a:rPr lang="en-US" sz="3295" dirty="0">
                  <a:solidFill>
                    <a:srgbClr val="FF5757"/>
                  </a:solidFill>
                  <a:latin typeface="Canva Sans Bold"/>
                </a:rPr>
                <a:t>INVESTIGATE USER EXPERIENCE</a:t>
              </a:r>
            </a:p>
            <a:p>
              <a:pPr marL="711600" lvl="1" indent="-355800" algn="ctr">
                <a:lnSpc>
                  <a:spcPts val="5273"/>
                </a:lnSpc>
                <a:buFont typeface="Arial"/>
                <a:buChar char="•"/>
              </a:pPr>
              <a:r>
                <a:rPr lang="en-US" sz="3295" dirty="0">
                  <a:solidFill>
                    <a:srgbClr val="FF5757"/>
                  </a:solidFill>
                  <a:latin typeface="Canva Sans Bold"/>
                </a:rPr>
                <a:t>ASSESS THE IMPACT OF REVIEWS ON REVENUE</a:t>
              </a:r>
            </a:p>
            <a:p>
              <a:pPr marL="711600" lvl="1" indent="-355800" algn="ctr">
                <a:lnSpc>
                  <a:spcPts val="5273"/>
                </a:lnSpc>
                <a:buFont typeface="Arial"/>
                <a:buChar char="•"/>
              </a:pPr>
              <a:r>
                <a:rPr lang="en-US" sz="3295" dirty="0">
                  <a:solidFill>
                    <a:srgbClr val="FF5757"/>
                  </a:solidFill>
                  <a:latin typeface="Canva Sans Bold"/>
                </a:rPr>
                <a:t>VISUALIZE CUSTOMER JOURNEYS FOR ENHANCED PERFORMANCE</a:t>
              </a:r>
            </a:p>
            <a:p>
              <a:pPr marL="711600" lvl="1" indent="-355800" algn="ctr">
                <a:lnSpc>
                  <a:spcPts val="5273"/>
                </a:lnSpc>
                <a:buFont typeface="Arial"/>
                <a:buChar char="•"/>
              </a:pPr>
              <a:r>
                <a:rPr lang="en-US" sz="3295" dirty="0">
                  <a:solidFill>
                    <a:srgbClr val="FF5757"/>
                  </a:solidFill>
                  <a:latin typeface="Canva Sans Bold"/>
                </a:rPr>
                <a:t>EMPLOY A/B TESTING TECHNIQUE TO IDENTIFY HIGH POINTS</a:t>
              </a:r>
            </a:p>
            <a:p>
              <a:pPr marL="711600" lvl="1" indent="-355800" algn="ctr">
                <a:lnSpc>
                  <a:spcPts val="5273"/>
                </a:lnSpc>
                <a:buFont typeface="Arial"/>
                <a:buChar char="•"/>
              </a:pPr>
              <a:r>
                <a:rPr lang="en-US" sz="3295" dirty="0">
                  <a:solidFill>
                    <a:srgbClr val="FF5757"/>
                  </a:solidFill>
                  <a:latin typeface="Canva Sans Bold"/>
                </a:rPr>
                <a:t>DEVISE A FINANCIAL PLAN TO ALLOCATE RESOURCES EFFECTIVELY</a:t>
              </a:r>
            </a:p>
            <a:p>
              <a:pPr marL="711600" lvl="1" indent="-355800" algn="ctr">
                <a:lnSpc>
                  <a:spcPts val="5273"/>
                </a:lnSpc>
                <a:buFont typeface="Arial"/>
                <a:buChar char="•"/>
              </a:pPr>
              <a:r>
                <a:rPr lang="en-US" sz="3295" dirty="0">
                  <a:solidFill>
                    <a:srgbClr val="FF5757"/>
                  </a:solidFill>
                  <a:latin typeface="Canva Sans Bold"/>
                </a:rPr>
                <a:t>IMPROVISE THE FEEDBACK PLATFORM AND KEEP REGULAR CHECKS</a:t>
              </a:r>
            </a:p>
            <a:p>
              <a:pPr marL="711600" lvl="1" indent="-355800" algn="ctr">
                <a:lnSpc>
                  <a:spcPts val="5273"/>
                </a:lnSpc>
                <a:buFont typeface="Arial"/>
                <a:buChar char="•"/>
              </a:pPr>
              <a:r>
                <a:rPr lang="en-US" sz="3295" dirty="0">
                  <a:solidFill>
                    <a:srgbClr val="FF5757"/>
                  </a:solidFill>
                  <a:latin typeface="Canva Sans Bold"/>
                </a:rPr>
                <a:t>ADOPT MARKETING CAMPAIGNS TO INCREASE CUSTOMER RETENTION RATE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898369" y="514307"/>
            <a:ext cx="12144858" cy="1531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93"/>
              </a:lnSpc>
            </a:pPr>
            <a:r>
              <a:rPr lang="en-US" sz="4875" spc="487">
                <a:solidFill>
                  <a:srgbClr val="000000"/>
                </a:solidFill>
                <a:latin typeface="League Spartan"/>
              </a:rPr>
              <a:t>CONCLUSION AND RECOMMENDATIONS</a:t>
            </a:r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E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566993" y="4499927"/>
            <a:ext cx="11154013" cy="2288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57"/>
              </a:lnSpc>
              <a:spcBef>
                <a:spcPct val="0"/>
              </a:spcBef>
            </a:pPr>
            <a:r>
              <a:rPr lang="en-US" sz="13398">
                <a:solidFill>
                  <a:srgbClr val="000000"/>
                </a:solidFill>
                <a:latin typeface="Canva Sans Bold"/>
              </a:rPr>
              <a:t>THANK YOU!!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762</Words>
  <Application>Microsoft Office PowerPoint</Application>
  <PresentationFormat>Custom</PresentationFormat>
  <Paragraphs>191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41" baseType="lpstr">
      <vt:lpstr>Montserrat Classic Bold</vt:lpstr>
      <vt:lpstr>Calibri</vt:lpstr>
      <vt:lpstr>Canva Sans Bold</vt:lpstr>
      <vt:lpstr>Montserrat Classic</vt:lpstr>
      <vt:lpstr>Kollektif</vt:lpstr>
      <vt:lpstr>Quicksand</vt:lpstr>
      <vt:lpstr>Coming Soon</vt:lpstr>
      <vt:lpstr>Montserrat Classic Italics</vt:lpstr>
      <vt:lpstr>Canva Sans</vt:lpstr>
      <vt:lpstr>Arial</vt:lpstr>
      <vt:lpstr>Lovelo</vt:lpstr>
      <vt:lpstr>Chewy</vt:lpstr>
      <vt:lpstr>Berkshire Swash</vt:lpstr>
      <vt:lpstr>League Spartan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DMA Individual</dc:title>
  <dc:creator>Chhavi Wadhera</dc:creator>
  <cp:lastModifiedBy>Wadhera, Chhavi</cp:lastModifiedBy>
  <cp:revision>5</cp:revision>
  <dcterms:created xsi:type="dcterms:W3CDTF">2006-08-16T00:00:00Z</dcterms:created>
  <dcterms:modified xsi:type="dcterms:W3CDTF">2026-10-06T22:12:32Z</dcterms:modified>
  <dc:identifier>DAFlPwBvuzk</dc:identifier>
</cp:coreProperties>
</file>